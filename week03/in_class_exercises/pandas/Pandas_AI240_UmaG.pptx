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sldIdLst>
    <p:sldId id="256" r:id="rId2"/>
    <p:sldId id="257" r:id="rId3"/>
    <p:sldId id="258" r:id="rId4"/>
    <p:sldId id="259" r:id="rId5"/>
    <p:sldId id="260" r:id="rId6"/>
    <p:sldId id="261" r:id="rId7"/>
    <p:sldId id="262" r:id="rId8"/>
    <p:sldId id="263" r:id="rId9"/>
    <p:sldId id="287"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A83BD9-E04D-49C1-8042-DA20B2CB23D1}" v="4" dt="2026-10-04T21:13:53.7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7" d="100"/>
          <a:sy n="87" d="100"/>
        </p:scale>
        <p:origin x="499"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ma G" userId="6aa79c3ddc08c7b4" providerId="LiveId" clId="{C39BBEB3-F0B7-47EA-9E80-A4B4DFF4256C}"/>
    <pc:docChg chg="custSel addSld modSld sldOrd">
      <pc:chgData name="Uma G" userId="6aa79c3ddc08c7b4" providerId="LiveId" clId="{C39BBEB3-F0B7-47EA-9E80-A4B4DFF4256C}" dt="2026-10-05T00:25:51.767" v="39"/>
      <pc:docMkLst>
        <pc:docMk/>
      </pc:docMkLst>
      <pc:sldChg chg="modSp mod">
        <pc:chgData name="Uma G" userId="6aa79c3ddc08c7b4" providerId="LiveId" clId="{C39BBEB3-F0B7-47EA-9E80-A4B4DFF4256C}" dt="2026-10-04T21:15:26.168" v="0" actId="207"/>
        <pc:sldMkLst>
          <pc:docMk/>
          <pc:sldMk cId="0" sldId="256"/>
        </pc:sldMkLst>
        <pc:spChg chg="mod">
          <ac:chgData name="Uma G" userId="6aa79c3ddc08c7b4" providerId="LiveId" clId="{C39BBEB3-F0B7-47EA-9E80-A4B4DFF4256C}" dt="2026-10-04T21:15:26.168" v="0" actId="207"/>
          <ac:spMkLst>
            <pc:docMk/>
            <pc:sldMk cId="0" sldId="256"/>
            <ac:spMk id="2" creationId="{00000000-0000-0000-0000-000000000000}"/>
          </ac:spMkLst>
        </pc:spChg>
      </pc:sldChg>
      <pc:sldChg chg="modSp mod">
        <pc:chgData name="Uma G" userId="6aa79c3ddc08c7b4" providerId="LiveId" clId="{C39BBEB3-F0B7-47EA-9E80-A4B4DFF4256C}" dt="2026-10-05T00:17:43.071" v="1" actId="120"/>
        <pc:sldMkLst>
          <pc:docMk/>
          <pc:sldMk cId="0" sldId="261"/>
        </pc:sldMkLst>
        <pc:spChg chg="mod">
          <ac:chgData name="Uma G" userId="6aa79c3ddc08c7b4" providerId="LiveId" clId="{C39BBEB3-F0B7-47EA-9E80-A4B4DFF4256C}" dt="2026-10-05T00:17:43.071" v="1" actId="120"/>
          <ac:spMkLst>
            <pc:docMk/>
            <pc:sldMk cId="0" sldId="261"/>
            <ac:spMk id="6" creationId="{00000000-0000-0000-0000-000000000000}"/>
          </ac:spMkLst>
        </pc:spChg>
      </pc:sldChg>
      <pc:sldChg chg="modSp mod">
        <pc:chgData name="Uma G" userId="6aa79c3ddc08c7b4" providerId="LiveId" clId="{C39BBEB3-F0B7-47EA-9E80-A4B4DFF4256C}" dt="2026-10-05T00:19:36.158" v="9" actId="120"/>
        <pc:sldMkLst>
          <pc:docMk/>
          <pc:sldMk cId="0" sldId="264"/>
        </pc:sldMkLst>
        <pc:spChg chg="mod">
          <ac:chgData name="Uma G" userId="6aa79c3ddc08c7b4" providerId="LiveId" clId="{C39BBEB3-F0B7-47EA-9E80-A4B4DFF4256C}" dt="2026-10-05T00:19:36.158" v="9" actId="120"/>
          <ac:spMkLst>
            <pc:docMk/>
            <pc:sldMk cId="0" sldId="264"/>
            <ac:spMk id="5" creationId="{00000000-0000-0000-0000-000000000000}"/>
          </ac:spMkLst>
        </pc:spChg>
      </pc:sldChg>
      <pc:sldChg chg="modSp mod">
        <pc:chgData name="Uma G" userId="6aa79c3ddc08c7b4" providerId="LiveId" clId="{C39BBEB3-F0B7-47EA-9E80-A4B4DFF4256C}" dt="2026-10-05T00:19:44.489" v="10" actId="120"/>
        <pc:sldMkLst>
          <pc:docMk/>
          <pc:sldMk cId="0" sldId="265"/>
        </pc:sldMkLst>
        <pc:spChg chg="mod">
          <ac:chgData name="Uma G" userId="6aa79c3ddc08c7b4" providerId="LiveId" clId="{C39BBEB3-F0B7-47EA-9E80-A4B4DFF4256C}" dt="2026-10-05T00:19:44.489" v="10" actId="120"/>
          <ac:spMkLst>
            <pc:docMk/>
            <pc:sldMk cId="0" sldId="265"/>
            <ac:spMk id="5" creationId="{00000000-0000-0000-0000-000000000000}"/>
          </ac:spMkLst>
        </pc:spChg>
      </pc:sldChg>
      <pc:sldChg chg="modSp mod">
        <pc:chgData name="Uma G" userId="6aa79c3ddc08c7b4" providerId="LiveId" clId="{C39BBEB3-F0B7-47EA-9E80-A4B4DFF4256C}" dt="2026-10-05T00:19:53.655" v="11" actId="120"/>
        <pc:sldMkLst>
          <pc:docMk/>
          <pc:sldMk cId="0" sldId="266"/>
        </pc:sldMkLst>
        <pc:spChg chg="mod">
          <ac:chgData name="Uma G" userId="6aa79c3ddc08c7b4" providerId="LiveId" clId="{C39BBEB3-F0B7-47EA-9E80-A4B4DFF4256C}" dt="2026-10-05T00:19:53.655" v="11" actId="120"/>
          <ac:spMkLst>
            <pc:docMk/>
            <pc:sldMk cId="0" sldId="266"/>
            <ac:spMk id="5" creationId="{00000000-0000-0000-0000-000000000000}"/>
          </ac:spMkLst>
        </pc:spChg>
      </pc:sldChg>
      <pc:sldChg chg="modSp mod">
        <pc:chgData name="Uma G" userId="6aa79c3ddc08c7b4" providerId="LiveId" clId="{C39BBEB3-F0B7-47EA-9E80-A4B4DFF4256C}" dt="2026-10-05T00:20:03.758" v="12" actId="120"/>
        <pc:sldMkLst>
          <pc:docMk/>
          <pc:sldMk cId="0" sldId="267"/>
        </pc:sldMkLst>
        <pc:spChg chg="mod">
          <ac:chgData name="Uma G" userId="6aa79c3ddc08c7b4" providerId="LiveId" clId="{C39BBEB3-F0B7-47EA-9E80-A4B4DFF4256C}" dt="2026-10-05T00:20:03.758" v="12" actId="120"/>
          <ac:spMkLst>
            <pc:docMk/>
            <pc:sldMk cId="0" sldId="267"/>
            <ac:spMk id="6" creationId="{00000000-0000-0000-0000-000000000000}"/>
          </ac:spMkLst>
        </pc:spChg>
      </pc:sldChg>
      <pc:sldChg chg="modSp mod">
        <pc:chgData name="Uma G" userId="6aa79c3ddc08c7b4" providerId="LiveId" clId="{C39BBEB3-F0B7-47EA-9E80-A4B4DFF4256C}" dt="2026-10-05T00:20:12.108" v="13" actId="120"/>
        <pc:sldMkLst>
          <pc:docMk/>
          <pc:sldMk cId="0" sldId="268"/>
        </pc:sldMkLst>
        <pc:spChg chg="mod">
          <ac:chgData name="Uma G" userId="6aa79c3ddc08c7b4" providerId="LiveId" clId="{C39BBEB3-F0B7-47EA-9E80-A4B4DFF4256C}" dt="2026-10-05T00:20:12.108" v="13" actId="120"/>
          <ac:spMkLst>
            <pc:docMk/>
            <pc:sldMk cId="0" sldId="268"/>
            <ac:spMk id="5" creationId="{00000000-0000-0000-0000-000000000000}"/>
          </ac:spMkLst>
        </pc:spChg>
      </pc:sldChg>
      <pc:sldChg chg="modSp mod">
        <pc:chgData name="Uma G" userId="6aa79c3ddc08c7b4" providerId="LiveId" clId="{C39BBEB3-F0B7-47EA-9E80-A4B4DFF4256C}" dt="2026-10-05T00:20:22.264" v="14" actId="120"/>
        <pc:sldMkLst>
          <pc:docMk/>
          <pc:sldMk cId="0" sldId="269"/>
        </pc:sldMkLst>
        <pc:spChg chg="mod">
          <ac:chgData name="Uma G" userId="6aa79c3ddc08c7b4" providerId="LiveId" clId="{C39BBEB3-F0B7-47EA-9E80-A4B4DFF4256C}" dt="2026-10-05T00:20:22.264" v="14" actId="120"/>
          <ac:spMkLst>
            <pc:docMk/>
            <pc:sldMk cId="0" sldId="269"/>
            <ac:spMk id="5" creationId="{00000000-0000-0000-0000-000000000000}"/>
          </ac:spMkLst>
        </pc:spChg>
      </pc:sldChg>
      <pc:sldChg chg="modSp mod">
        <pc:chgData name="Uma G" userId="6aa79c3ddc08c7b4" providerId="LiveId" clId="{C39BBEB3-F0B7-47EA-9E80-A4B4DFF4256C}" dt="2026-10-05T00:20:31.786" v="15" actId="120"/>
        <pc:sldMkLst>
          <pc:docMk/>
          <pc:sldMk cId="0" sldId="270"/>
        </pc:sldMkLst>
        <pc:spChg chg="mod">
          <ac:chgData name="Uma G" userId="6aa79c3ddc08c7b4" providerId="LiveId" clId="{C39BBEB3-F0B7-47EA-9E80-A4B4DFF4256C}" dt="2026-10-05T00:20:31.786" v="15" actId="120"/>
          <ac:spMkLst>
            <pc:docMk/>
            <pc:sldMk cId="0" sldId="270"/>
            <ac:spMk id="5" creationId="{00000000-0000-0000-0000-000000000000}"/>
          </ac:spMkLst>
        </pc:spChg>
      </pc:sldChg>
      <pc:sldChg chg="modSp mod">
        <pc:chgData name="Uma G" userId="6aa79c3ddc08c7b4" providerId="LiveId" clId="{C39BBEB3-F0B7-47EA-9E80-A4B4DFF4256C}" dt="2026-10-05T00:20:40.176" v="16" actId="120"/>
        <pc:sldMkLst>
          <pc:docMk/>
          <pc:sldMk cId="0" sldId="271"/>
        </pc:sldMkLst>
        <pc:spChg chg="mod">
          <ac:chgData name="Uma G" userId="6aa79c3ddc08c7b4" providerId="LiveId" clId="{C39BBEB3-F0B7-47EA-9E80-A4B4DFF4256C}" dt="2026-10-05T00:20:40.176" v="16" actId="120"/>
          <ac:spMkLst>
            <pc:docMk/>
            <pc:sldMk cId="0" sldId="271"/>
            <ac:spMk id="5" creationId="{00000000-0000-0000-0000-000000000000}"/>
          </ac:spMkLst>
        </pc:spChg>
      </pc:sldChg>
      <pc:sldChg chg="modSp mod">
        <pc:chgData name="Uma G" userId="6aa79c3ddc08c7b4" providerId="LiveId" clId="{C39BBEB3-F0B7-47EA-9E80-A4B4DFF4256C}" dt="2026-10-05T00:20:53.638" v="17" actId="120"/>
        <pc:sldMkLst>
          <pc:docMk/>
          <pc:sldMk cId="0" sldId="272"/>
        </pc:sldMkLst>
        <pc:spChg chg="mod">
          <ac:chgData name="Uma G" userId="6aa79c3ddc08c7b4" providerId="LiveId" clId="{C39BBEB3-F0B7-47EA-9E80-A4B4DFF4256C}" dt="2026-10-05T00:20:53.638" v="17" actId="120"/>
          <ac:spMkLst>
            <pc:docMk/>
            <pc:sldMk cId="0" sldId="272"/>
            <ac:spMk id="6" creationId="{00000000-0000-0000-0000-000000000000}"/>
          </ac:spMkLst>
        </pc:spChg>
      </pc:sldChg>
      <pc:sldChg chg="modSp mod">
        <pc:chgData name="Uma G" userId="6aa79c3ddc08c7b4" providerId="LiveId" clId="{C39BBEB3-F0B7-47EA-9E80-A4B4DFF4256C}" dt="2026-10-05T00:21:03.263" v="18" actId="120"/>
        <pc:sldMkLst>
          <pc:docMk/>
          <pc:sldMk cId="0" sldId="273"/>
        </pc:sldMkLst>
        <pc:spChg chg="mod">
          <ac:chgData name="Uma G" userId="6aa79c3ddc08c7b4" providerId="LiveId" clId="{C39BBEB3-F0B7-47EA-9E80-A4B4DFF4256C}" dt="2026-10-05T00:21:03.263" v="18" actId="120"/>
          <ac:spMkLst>
            <pc:docMk/>
            <pc:sldMk cId="0" sldId="273"/>
            <ac:spMk id="6" creationId="{00000000-0000-0000-0000-000000000000}"/>
          </ac:spMkLst>
        </pc:spChg>
      </pc:sldChg>
      <pc:sldChg chg="modSp mod">
        <pc:chgData name="Uma G" userId="6aa79c3ddc08c7b4" providerId="LiveId" clId="{C39BBEB3-F0B7-47EA-9E80-A4B4DFF4256C}" dt="2026-10-05T00:21:13.058" v="19" actId="120"/>
        <pc:sldMkLst>
          <pc:docMk/>
          <pc:sldMk cId="0" sldId="274"/>
        </pc:sldMkLst>
        <pc:spChg chg="mod">
          <ac:chgData name="Uma G" userId="6aa79c3ddc08c7b4" providerId="LiveId" clId="{C39BBEB3-F0B7-47EA-9E80-A4B4DFF4256C}" dt="2026-10-05T00:21:13.058" v="19" actId="120"/>
          <ac:spMkLst>
            <pc:docMk/>
            <pc:sldMk cId="0" sldId="274"/>
            <ac:spMk id="5" creationId="{00000000-0000-0000-0000-000000000000}"/>
          </ac:spMkLst>
        </pc:spChg>
      </pc:sldChg>
      <pc:sldChg chg="modSp mod">
        <pc:chgData name="Uma G" userId="6aa79c3ddc08c7b4" providerId="LiveId" clId="{C39BBEB3-F0B7-47EA-9E80-A4B4DFF4256C}" dt="2026-10-05T00:21:29.308" v="20" actId="120"/>
        <pc:sldMkLst>
          <pc:docMk/>
          <pc:sldMk cId="0" sldId="275"/>
        </pc:sldMkLst>
        <pc:spChg chg="mod">
          <ac:chgData name="Uma G" userId="6aa79c3ddc08c7b4" providerId="LiveId" clId="{C39BBEB3-F0B7-47EA-9E80-A4B4DFF4256C}" dt="2026-10-05T00:21:29.308" v="20" actId="120"/>
          <ac:spMkLst>
            <pc:docMk/>
            <pc:sldMk cId="0" sldId="275"/>
            <ac:spMk id="6" creationId="{00000000-0000-0000-0000-000000000000}"/>
          </ac:spMkLst>
        </pc:spChg>
      </pc:sldChg>
      <pc:sldChg chg="modSp mod">
        <pc:chgData name="Uma G" userId="6aa79c3ddc08c7b4" providerId="LiveId" clId="{C39BBEB3-F0B7-47EA-9E80-A4B4DFF4256C}" dt="2026-10-05T00:21:41.383" v="21" actId="120"/>
        <pc:sldMkLst>
          <pc:docMk/>
          <pc:sldMk cId="0" sldId="276"/>
        </pc:sldMkLst>
        <pc:spChg chg="mod">
          <ac:chgData name="Uma G" userId="6aa79c3ddc08c7b4" providerId="LiveId" clId="{C39BBEB3-F0B7-47EA-9E80-A4B4DFF4256C}" dt="2026-10-05T00:21:41.383" v="21" actId="120"/>
          <ac:spMkLst>
            <pc:docMk/>
            <pc:sldMk cId="0" sldId="276"/>
            <ac:spMk id="6" creationId="{00000000-0000-0000-0000-000000000000}"/>
          </ac:spMkLst>
        </pc:spChg>
      </pc:sldChg>
      <pc:sldChg chg="modSp mod">
        <pc:chgData name="Uma G" userId="6aa79c3ddc08c7b4" providerId="LiveId" clId="{C39BBEB3-F0B7-47EA-9E80-A4B4DFF4256C}" dt="2026-10-05T00:21:49.804" v="22" actId="120"/>
        <pc:sldMkLst>
          <pc:docMk/>
          <pc:sldMk cId="0" sldId="277"/>
        </pc:sldMkLst>
        <pc:spChg chg="mod">
          <ac:chgData name="Uma G" userId="6aa79c3ddc08c7b4" providerId="LiveId" clId="{C39BBEB3-F0B7-47EA-9E80-A4B4DFF4256C}" dt="2026-10-05T00:21:49.804" v="22" actId="120"/>
          <ac:spMkLst>
            <pc:docMk/>
            <pc:sldMk cId="0" sldId="277"/>
            <ac:spMk id="6" creationId="{00000000-0000-0000-0000-000000000000}"/>
          </ac:spMkLst>
        </pc:spChg>
      </pc:sldChg>
      <pc:sldChg chg="modSp mod">
        <pc:chgData name="Uma G" userId="6aa79c3ddc08c7b4" providerId="LiveId" clId="{C39BBEB3-F0B7-47EA-9E80-A4B4DFF4256C}" dt="2026-10-05T00:22:02.730" v="23" actId="120"/>
        <pc:sldMkLst>
          <pc:docMk/>
          <pc:sldMk cId="0" sldId="278"/>
        </pc:sldMkLst>
        <pc:spChg chg="mod">
          <ac:chgData name="Uma G" userId="6aa79c3ddc08c7b4" providerId="LiveId" clId="{C39BBEB3-F0B7-47EA-9E80-A4B4DFF4256C}" dt="2026-10-05T00:22:02.730" v="23" actId="120"/>
          <ac:spMkLst>
            <pc:docMk/>
            <pc:sldMk cId="0" sldId="278"/>
            <ac:spMk id="6" creationId="{00000000-0000-0000-0000-000000000000}"/>
          </ac:spMkLst>
        </pc:spChg>
      </pc:sldChg>
      <pc:sldChg chg="modSp mod">
        <pc:chgData name="Uma G" userId="6aa79c3ddc08c7b4" providerId="LiveId" clId="{C39BBEB3-F0B7-47EA-9E80-A4B4DFF4256C}" dt="2026-10-05T00:22:17.550" v="24" actId="120"/>
        <pc:sldMkLst>
          <pc:docMk/>
          <pc:sldMk cId="0" sldId="280"/>
        </pc:sldMkLst>
        <pc:spChg chg="mod">
          <ac:chgData name="Uma G" userId="6aa79c3ddc08c7b4" providerId="LiveId" clId="{C39BBEB3-F0B7-47EA-9E80-A4B4DFF4256C}" dt="2026-10-05T00:22:17.550" v="24" actId="120"/>
          <ac:spMkLst>
            <pc:docMk/>
            <pc:sldMk cId="0" sldId="280"/>
            <ac:spMk id="5" creationId="{00000000-0000-0000-0000-000000000000}"/>
          </ac:spMkLst>
        </pc:spChg>
      </pc:sldChg>
      <pc:sldChg chg="modSp mod">
        <pc:chgData name="Uma G" userId="6aa79c3ddc08c7b4" providerId="LiveId" clId="{C39BBEB3-F0B7-47EA-9E80-A4B4DFF4256C}" dt="2026-10-05T00:22:27.416" v="25" actId="120"/>
        <pc:sldMkLst>
          <pc:docMk/>
          <pc:sldMk cId="0" sldId="281"/>
        </pc:sldMkLst>
        <pc:spChg chg="mod">
          <ac:chgData name="Uma G" userId="6aa79c3ddc08c7b4" providerId="LiveId" clId="{C39BBEB3-F0B7-47EA-9E80-A4B4DFF4256C}" dt="2026-10-05T00:22:27.416" v="25" actId="120"/>
          <ac:spMkLst>
            <pc:docMk/>
            <pc:sldMk cId="0" sldId="281"/>
            <ac:spMk id="5" creationId="{00000000-0000-0000-0000-000000000000}"/>
          </ac:spMkLst>
        </pc:spChg>
      </pc:sldChg>
      <pc:sldChg chg="modSp mod">
        <pc:chgData name="Uma G" userId="6aa79c3ddc08c7b4" providerId="LiveId" clId="{C39BBEB3-F0B7-47EA-9E80-A4B4DFF4256C}" dt="2026-10-05T00:24:36.002" v="37" actId="6549"/>
        <pc:sldMkLst>
          <pc:docMk/>
          <pc:sldMk cId="0" sldId="286"/>
        </pc:sldMkLst>
        <pc:spChg chg="mod">
          <ac:chgData name="Uma G" userId="6aa79c3ddc08c7b4" providerId="LiveId" clId="{C39BBEB3-F0B7-47EA-9E80-A4B4DFF4256C}" dt="2026-10-05T00:24:36.002" v="37" actId="6549"/>
          <ac:spMkLst>
            <pc:docMk/>
            <pc:sldMk cId="0" sldId="286"/>
            <ac:spMk id="3" creationId="{00000000-0000-0000-0000-000000000000}"/>
          </ac:spMkLst>
        </pc:spChg>
      </pc:sldChg>
      <pc:sldChg chg="addSp delSp modSp new mod ord">
        <pc:chgData name="Uma G" userId="6aa79c3ddc08c7b4" providerId="LiveId" clId="{C39BBEB3-F0B7-47EA-9E80-A4B4DFF4256C}" dt="2026-10-05T00:25:51.767" v="39"/>
        <pc:sldMkLst>
          <pc:docMk/>
          <pc:sldMk cId="647389058" sldId="287"/>
        </pc:sldMkLst>
        <pc:picChg chg="add del mod">
          <ac:chgData name="Uma G" userId="6aa79c3ddc08c7b4" providerId="LiveId" clId="{C39BBEB3-F0B7-47EA-9E80-A4B4DFF4256C}" dt="2026-10-05T00:18:52.094" v="6" actId="21"/>
          <ac:picMkLst>
            <pc:docMk/>
            <pc:sldMk cId="647389058" sldId="287"/>
            <ac:picMk id="3" creationId="{777AAFCE-2343-8A8D-0999-408B57B89F51}"/>
          </ac:picMkLst>
        </pc:picChg>
        <pc:picChg chg="add mod">
          <ac:chgData name="Uma G" userId="6aa79c3ddc08c7b4" providerId="LiveId" clId="{C39BBEB3-F0B7-47EA-9E80-A4B4DFF4256C}" dt="2026-10-05T00:19:10.369" v="8" actId="27614"/>
          <ac:picMkLst>
            <pc:docMk/>
            <pc:sldMk cId="647389058" sldId="287"/>
            <ac:picMk id="5" creationId="{6B075EE0-B33F-8C72-FA8B-86D90A13557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58939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51488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89658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44301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8249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08496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9453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7162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0283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41583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454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90622654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Title slide: Machine Learning Libraries — Pandas. AI 240. Instructor Dr. Uma Gajendragadkar."/>
          <p:cNvSpPr txBox="1"/>
          <p:nvPr/>
        </p:nvSpPr>
        <p:spPr>
          <a:xfrm>
            <a:off x="914400" y="1554480"/>
            <a:ext cx="10332720" cy="2011680"/>
          </a:xfrm>
          <a:prstGeom prst="rect">
            <a:avLst/>
          </a:prstGeom>
          <a:noFill/>
        </p:spPr>
        <p:txBody>
          <a:bodyPr wrap="none">
            <a:spAutoFit/>
          </a:bodyPr>
          <a:lstStyle/>
          <a:p>
            <a:pPr algn="ctr">
              <a:defRPr sz="3400" b="1">
                <a:solidFill>
                  <a:srgbClr val="FFFFFF"/>
                </a:solidFill>
                <a:latin typeface="Aptos Display"/>
              </a:defRPr>
            </a:pPr>
            <a:r>
              <a:rPr dirty="0"/>
              <a:t>Machine Learning Libraries</a:t>
            </a:r>
          </a:p>
          <a:p>
            <a:pPr algn="ctr">
              <a:defRPr sz="5000" b="1">
                <a:solidFill>
                  <a:srgbClr val="FFFFFF"/>
                </a:solidFill>
                <a:latin typeface="Aptos Display"/>
              </a:defRPr>
            </a:pPr>
            <a:r>
              <a:rPr dirty="0"/>
              <a:t>Pandas</a:t>
            </a:r>
          </a:p>
          <a:p>
            <a:pPr algn="ctr">
              <a:spcBef>
                <a:spcPts val="2000"/>
              </a:spcBef>
              <a:defRPr sz="2000">
                <a:solidFill>
                  <a:srgbClr val="FFFFFF"/>
                </a:solidFill>
                <a:latin typeface="Aptos"/>
              </a:defRPr>
            </a:pPr>
            <a:r>
              <a:rPr dirty="0"/>
              <a:t>AI 240 • Instructor: Dr. Uma Gajendragadkar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Learning Objectives"/>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Learning Objectives</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2</a:t>
            </a:r>
          </a:p>
        </p:txBody>
      </p:sp>
      <p:sp>
        <p:nvSpPr>
          <p:cNvPr id="5" name="TextBox 4" descr="Bulleted slide content: Explain what Pandas is and why it is useful for tabular data. Create and inspect Series and DataFrame objects. Read and write CSV, JSON, and Excel data. Clean missing values using dropna() and fillna(). Select rows, columns, and cells with iloc and Boolean conditions. Combine DataFrames using join() and merge()."/>
          <p:cNvSpPr txBox="1"/>
          <p:nvPr/>
        </p:nvSpPr>
        <p:spPr>
          <a:xfrm>
            <a:off x="731520" y="1325880"/>
            <a:ext cx="10698480" cy="4754880"/>
          </a:xfrm>
          <a:prstGeom prst="rect">
            <a:avLst/>
          </a:prstGeom>
          <a:noFill/>
        </p:spPr>
        <p:txBody>
          <a:bodyPr wrap="square">
            <a:spAutoFit/>
          </a:bodyPr>
          <a:lstStyle/>
          <a:p>
            <a:pPr>
              <a:spcAft>
                <a:spcPts val="1200"/>
              </a:spcAft>
              <a:defRPr sz="2100">
                <a:solidFill>
                  <a:srgbClr val="1E242B"/>
                </a:solidFill>
                <a:latin typeface="Aptos"/>
              </a:defRPr>
            </a:pPr>
            <a:r>
              <a:t>Explain what Pandas is and why it is useful for tabular data.</a:t>
            </a:r>
          </a:p>
          <a:p>
            <a:pPr>
              <a:spcAft>
                <a:spcPts val="1200"/>
              </a:spcAft>
              <a:defRPr sz="2100">
                <a:solidFill>
                  <a:srgbClr val="1E242B"/>
                </a:solidFill>
                <a:latin typeface="Aptos"/>
              </a:defRPr>
            </a:pPr>
            <a:r>
              <a:t>Create and inspect Series and DataFrame objects.</a:t>
            </a:r>
          </a:p>
          <a:p>
            <a:pPr>
              <a:spcAft>
                <a:spcPts val="1200"/>
              </a:spcAft>
              <a:defRPr sz="2100">
                <a:solidFill>
                  <a:srgbClr val="1E242B"/>
                </a:solidFill>
                <a:latin typeface="Aptos"/>
              </a:defRPr>
            </a:pPr>
            <a:r>
              <a:t>Read and write CSV, JSON, and Excel data.</a:t>
            </a:r>
          </a:p>
          <a:p>
            <a:pPr>
              <a:spcAft>
                <a:spcPts val="1200"/>
              </a:spcAft>
              <a:defRPr sz="2100">
                <a:solidFill>
                  <a:srgbClr val="1E242B"/>
                </a:solidFill>
                <a:latin typeface="Aptos"/>
              </a:defRPr>
            </a:pPr>
            <a:r>
              <a:t>Clean missing values using dropna() and fillna().</a:t>
            </a:r>
          </a:p>
          <a:p>
            <a:pPr>
              <a:spcAft>
                <a:spcPts val="1200"/>
              </a:spcAft>
              <a:defRPr sz="2100">
                <a:solidFill>
                  <a:srgbClr val="1E242B"/>
                </a:solidFill>
                <a:latin typeface="Aptos"/>
              </a:defRPr>
            </a:pPr>
            <a:r>
              <a:t>Select rows, columns, and cells with iloc and Boolean conditions.</a:t>
            </a:r>
          </a:p>
          <a:p>
            <a:pPr>
              <a:spcAft>
                <a:spcPts val="1200"/>
              </a:spcAft>
              <a:defRPr sz="2100">
                <a:solidFill>
                  <a:srgbClr val="1E242B"/>
                </a:solidFill>
                <a:latin typeface="Aptos"/>
              </a:defRPr>
            </a:pPr>
            <a:r>
              <a:t>Combine DataFrames using join() and merge().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What Is Pandas?"/>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What Is Pandas?</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3</a:t>
            </a:r>
          </a:p>
        </p:txBody>
      </p:sp>
      <p:sp>
        <p:nvSpPr>
          <p:cNvPr id="5" name="TextBox 4" descr="Bulleted slide content: Pandas is an open-source Python library for data structures and data analysis. It is designed to work efficiently with labeled and relational data. Common tasks include data manipulation, exploration, cleaning, analysis, and preparation for machine learning. Pandas was created by Wes McKinney in 2008."/>
          <p:cNvSpPr txBox="1"/>
          <p:nvPr/>
        </p:nvSpPr>
        <p:spPr>
          <a:xfrm>
            <a:off x="731520" y="1325880"/>
            <a:ext cx="10698480" cy="4754880"/>
          </a:xfrm>
          <a:prstGeom prst="rect">
            <a:avLst/>
          </a:prstGeom>
          <a:noFill/>
        </p:spPr>
        <p:txBody>
          <a:bodyPr wrap="square">
            <a:spAutoFit/>
          </a:bodyPr>
          <a:lstStyle/>
          <a:p>
            <a:pPr>
              <a:spcAft>
                <a:spcPts val="1200"/>
              </a:spcAft>
              <a:defRPr sz="2200">
                <a:solidFill>
                  <a:srgbClr val="1E242B"/>
                </a:solidFill>
                <a:latin typeface="Aptos"/>
              </a:defRPr>
            </a:pPr>
            <a:r>
              <a:t>Pandas is an open-source Python library for data structures and data analysis.</a:t>
            </a:r>
          </a:p>
          <a:p>
            <a:pPr>
              <a:spcAft>
                <a:spcPts val="1200"/>
              </a:spcAft>
              <a:defRPr sz="2200">
                <a:solidFill>
                  <a:srgbClr val="1E242B"/>
                </a:solidFill>
                <a:latin typeface="Aptos"/>
              </a:defRPr>
            </a:pPr>
            <a:r>
              <a:t>It is designed to work efficiently with labeled and relational data.</a:t>
            </a:r>
          </a:p>
          <a:p>
            <a:pPr>
              <a:spcAft>
                <a:spcPts val="1200"/>
              </a:spcAft>
              <a:defRPr sz="2200">
                <a:solidFill>
                  <a:srgbClr val="1E242B"/>
                </a:solidFill>
                <a:latin typeface="Aptos"/>
              </a:defRPr>
            </a:pPr>
            <a:r>
              <a:t>Common tasks include data manipulation, exploration, cleaning, analysis, and preparation for machine learning.</a:t>
            </a:r>
          </a:p>
          <a:p>
            <a:pPr>
              <a:spcAft>
                <a:spcPts val="1200"/>
              </a:spcAft>
              <a:defRPr sz="2200">
                <a:solidFill>
                  <a:srgbClr val="1E242B"/>
                </a:solidFill>
                <a:latin typeface="Aptos"/>
              </a:defRPr>
            </a:pPr>
            <a:r>
              <a:t>Pandas was created by Wes McKinney in 2008.</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Install and Import Pandas"/>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Install and Import Pandas</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4</a:t>
            </a:r>
          </a:p>
        </p:txBody>
      </p:sp>
      <p:sp>
        <p:nvSpPr>
          <p:cNvPr id="5" name="TextBox 4" descr="Bulleted slide content: Install Pandas in a Python environment, then import it using the conventional alias pd."/>
          <p:cNvSpPr txBox="1"/>
          <p:nvPr/>
        </p:nvSpPr>
        <p:spPr>
          <a:xfrm>
            <a:off x="731520" y="1371600"/>
            <a:ext cx="10698480" cy="731520"/>
          </a:xfrm>
          <a:prstGeom prst="rect">
            <a:avLst/>
          </a:prstGeom>
          <a:noFill/>
        </p:spPr>
        <p:txBody>
          <a:bodyPr wrap="square">
            <a:spAutoFit/>
          </a:bodyPr>
          <a:lstStyle/>
          <a:p>
            <a:pPr>
              <a:spcAft>
                <a:spcPts val="1200"/>
              </a:spcAft>
              <a:defRPr sz="2100">
                <a:solidFill>
                  <a:srgbClr val="1E242B"/>
                </a:solidFill>
                <a:latin typeface="Aptos"/>
              </a:defRPr>
            </a:pPr>
            <a:r>
              <a:t>Install Pandas in a Python environment, then import it using the conventional alias pd.</a:t>
            </a:r>
          </a:p>
        </p:txBody>
      </p:sp>
      <p:sp>
        <p:nvSpPr>
          <p:cNvPr id="6" name="Rounded Rectangle 5" descr="Python code example: !pip install pandas; ; import pandas as pd"/>
          <p:cNvSpPr/>
          <p:nvPr/>
        </p:nvSpPr>
        <p:spPr>
          <a:xfrm>
            <a:off x="777240" y="2240280"/>
            <a:ext cx="10424160" cy="192024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lgn="ctr">
              <a:defRPr sz="2200">
                <a:solidFill>
                  <a:srgbClr val="1E242B"/>
                </a:solidFill>
                <a:latin typeface="Courier New"/>
              </a:defRPr>
            </a:pPr>
            <a:r>
              <a:t>!pip install pandas</a:t>
            </a:r>
            <a:br/>
            <a:br/>
            <a:r>
              <a:t>import pandas as pd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Core Data Structures: Series and DataFrame"/>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Core Data Structures: Series and DataFrame</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5</a:t>
            </a:r>
          </a:p>
        </p:txBody>
      </p:sp>
      <p:sp>
        <p:nvSpPr>
          <p:cNvPr id="5" name="Rounded Rectangle 4" descr="Series. A one-dimensional labeled array that can hold values such as integers, strings, or objects."/>
          <p:cNvSpPr/>
          <p:nvPr/>
        </p:nvSpPr>
        <p:spPr>
          <a:xfrm>
            <a:off x="731520" y="1463040"/>
            <a:ext cx="5212080" cy="4297680"/>
          </a:xfrm>
          <a:prstGeom prst="roundRect">
            <a:avLst/>
          </a:prstGeom>
          <a:solidFill>
            <a:srgbClr val="FFFFFF"/>
          </a:solidFill>
          <a:ln w="25400">
            <a:solidFill>
              <a:srgbClr val="5C3F8C"/>
            </a:solidFill>
          </a:ln>
        </p:spPr>
        <p:style>
          <a:lnRef idx="1">
            <a:schemeClr val="accent1"/>
          </a:lnRef>
          <a:fillRef idx="3">
            <a:schemeClr val="accent1"/>
          </a:fillRef>
          <a:effectRef idx="2">
            <a:schemeClr val="accent1"/>
          </a:effectRef>
          <a:fontRef idx="minor">
            <a:schemeClr val="lt1"/>
          </a:fontRef>
        </p:style>
        <p:txBody>
          <a:bodyPr lIns="274320" tIns="228600" rtlCol="0" anchor="ctr"/>
          <a:lstStyle/>
          <a:p>
            <a:pPr algn="ctr">
              <a:defRPr sz="2400" b="1">
                <a:solidFill>
                  <a:srgbClr val="5C3F8C"/>
                </a:solidFill>
                <a:latin typeface="Aptos"/>
              </a:defRPr>
            </a:pPr>
            <a:r>
              <a:t>Series</a:t>
            </a:r>
          </a:p>
          <a:p>
            <a:pPr>
              <a:spcBef>
                <a:spcPts val="1400"/>
              </a:spcBef>
              <a:defRPr sz="2000">
                <a:solidFill>
                  <a:srgbClr val="1E242B"/>
                </a:solidFill>
                <a:latin typeface="Aptos"/>
              </a:defRPr>
            </a:pPr>
            <a:r>
              <a:t>A one-dimensional labeled array that can hold values such as integers, strings, or objects.</a:t>
            </a:r>
          </a:p>
        </p:txBody>
      </p:sp>
      <p:sp>
        <p:nvSpPr>
          <p:cNvPr id="6" name="Rounded Rectangle 5" descr="DataFrame. A two-dimensional tabular data structure organized into rows and columns."/>
          <p:cNvSpPr/>
          <p:nvPr/>
        </p:nvSpPr>
        <p:spPr>
          <a:xfrm>
            <a:off x="6263640" y="1463040"/>
            <a:ext cx="5212080" cy="4297680"/>
          </a:xfrm>
          <a:prstGeom prst="roundRect">
            <a:avLst/>
          </a:prstGeom>
          <a:solidFill>
            <a:srgbClr val="FFFFFF"/>
          </a:solidFill>
          <a:ln w="25400">
            <a:solidFill>
              <a:srgbClr val="007079"/>
            </a:solidFill>
          </a:ln>
        </p:spPr>
        <p:style>
          <a:lnRef idx="1">
            <a:schemeClr val="accent1"/>
          </a:lnRef>
          <a:fillRef idx="3">
            <a:schemeClr val="accent1"/>
          </a:fillRef>
          <a:effectRef idx="2">
            <a:schemeClr val="accent1"/>
          </a:effectRef>
          <a:fontRef idx="minor">
            <a:schemeClr val="lt1"/>
          </a:fontRef>
        </p:style>
        <p:txBody>
          <a:bodyPr lIns="274320" tIns="228600" rtlCol="0" anchor="ctr"/>
          <a:lstStyle/>
          <a:p>
            <a:pPr algn="ctr">
              <a:defRPr sz="2400" b="1">
                <a:solidFill>
                  <a:srgbClr val="007079"/>
                </a:solidFill>
                <a:latin typeface="Aptos"/>
              </a:defRPr>
            </a:pPr>
            <a:r>
              <a:t>DataFrame</a:t>
            </a:r>
          </a:p>
          <a:p>
            <a:pPr>
              <a:spcBef>
                <a:spcPts val="1400"/>
              </a:spcBef>
              <a:defRPr sz="2000">
                <a:solidFill>
                  <a:srgbClr val="1E242B"/>
                </a:solidFill>
                <a:latin typeface="Aptos"/>
              </a:defRPr>
            </a:pPr>
            <a:r>
              <a:t>A two-dimensional tabular data structure organized into rows and columns.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Creating a Pandas Series"/>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Creating a Pandas Series</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6</a:t>
            </a:r>
          </a:p>
        </p:txBody>
      </p:sp>
      <p:sp>
        <p:nvSpPr>
          <p:cNvPr id="5" name="TextBox 4" descr="Bulleted slide content: A Series is similar to a single column in a table."/>
          <p:cNvSpPr txBox="1"/>
          <p:nvPr/>
        </p:nvSpPr>
        <p:spPr>
          <a:xfrm>
            <a:off x="731520" y="1325880"/>
            <a:ext cx="10698480" cy="640080"/>
          </a:xfrm>
          <a:prstGeom prst="rect">
            <a:avLst/>
          </a:prstGeom>
          <a:noFill/>
        </p:spPr>
        <p:txBody>
          <a:bodyPr wrap="square">
            <a:spAutoFit/>
          </a:bodyPr>
          <a:lstStyle/>
          <a:p>
            <a:pPr>
              <a:spcAft>
                <a:spcPts val="1200"/>
              </a:spcAft>
              <a:defRPr sz="2200">
                <a:solidFill>
                  <a:srgbClr val="1E242B"/>
                </a:solidFill>
                <a:latin typeface="Aptos"/>
              </a:defRPr>
            </a:pPr>
            <a:r>
              <a:t>A Series is similar to a single column in a table.</a:t>
            </a:r>
          </a:p>
        </p:txBody>
      </p:sp>
      <p:sp>
        <p:nvSpPr>
          <p:cNvPr id="6" name="Rounded Rectangle 5" descr="Python code example: import pandas as pd; ; x = [9, 3, 12]; sr = pd.Series(x); print(sr)"/>
          <p:cNvSpPr/>
          <p:nvPr/>
        </p:nvSpPr>
        <p:spPr>
          <a:xfrm>
            <a:off x="777240" y="2011680"/>
            <a:ext cx="10424160" cy="292608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2000">
                <a:solidFill>
                  <a:srgbClr val="1E242B"/>
                </a:solidFill>
                <a:latin typeface="Courier New"/>
              </a:defRPr>
            </a:pPr>
            <a:r>
              <a:rPr dirty="0"/>
              <a:t>import pandas as pd</a:t>
            </a:r>
            <a:br>
              <a:rPr dirty="0"/>
            </a:br>
            <a:br>
              <a:rPr dirty="0"/>
            </a:br>
            <a:r>
              <a:rPr dirty="0"/>
              <a:t>x = [9, 3, 12]</a:t>
            </a:r>
            <a:br>
              <a:rPr dirty="0"/>
            </a:br>
            <a:r>
              <a:rPr dirty="0" err="1"/>
              <a:t>sr</a:t>
            </a:r>
            <a:r>
              <a:rPr dirty="0"/>
              <a:t> = </a:t>
            </a:r>
            <a:r>
              <a:rPr dirty="0" err="1"/>
              <a:t>pd.Series</a:t>
            </a:r>
            <a:r>
              <a:rPr dirty="0"/>
              <a:t>(x)</a:t>
            </a:r>
            <a:br>
              <a:rPr dirty="0"/>
            </a:br>
            <a:r>
              <a:rPr dirty="0"/>
              <a:t>print(</a:t>
            </a:r>
            <a:r>
              <a:rPr dirty="0" err="1"/>
              <a:t>sr</a:t>
            </a:r>
            <a:r>
              <a:rPr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What Kind of Data Does Pandas Handle?"/>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What Kind of Data Does Pandas Handle?</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7</a:t>
            </a:r>
          </a:p>
        </p:txBody>
      </p:sp>
      <p:sp>
        <p:nvSpPr>
          <p:cNvPr id="5" name="TextBox 4" descr="Bulleted slide content: Pandas is well suited to tabular data from spreadsheets and databases. A Pandas data table is called a DataFrame. A DataFrame helps you explore, clean, transform, and process data."/>
          <p:cNvSpPr txBox="1"/>
          <p:nvPr/>
        </p:nvSpPr>
        <p:spPr>
          <a:xfrm>
            <a:off x="731520" y="1371600"/>
            <a:ext cx="5760720" cy="4389120"/>
          </a:xfrm>
          <a:prstGeom prst="rect">
            <a:avLst/>
          </a:prstGeom>
          <a:noFill/>
        </p:spPr>
        <p:txBody>
          <a:bodyPr wrap="square">
            <a:spAutoFit/>
          </a:bodyPr>
          <a:lstStyle/>
          <a:p>
            <a:pPr>
              <a:spcAft>
                <a:spcPts val="1200"/>
              </a:spcAft>
              <a:defRPr sz="2000">
                <a:solidFill>
                  <a:srgbClr val="1E242B"/>
                </a:solidFill>
                <a:latin typeface="Aptos"/>
              </a:defRPr>
            </a:pPr>
            <a:r>
              <a:t>Pandas is well suited to tabular data from spreadsheets and databases.</a:t>
            </a:r>
          </a:p>
          <a:p>
            <a:pPr>
              <a:spcAft>
                <a:spcPts val="1200"/>
              </a:spcAft>
              <a:defRPr sz="2000">
                <a:solidFill>
                  <a:srgbClr val="1E242B"/>
                </a:solidFill>
                <a:latin typeface="Aptos"/>
              </a:defRPr>
            </a:pPr>
            <a:r>
              <a:t>A Pandas data table is called a DataFrame.</a:t>
            </a:r>
          </a:p>
          <a:p>
            <a:pPr>
              <a:spcAft>
                <a:spcPts val="1200"/>
              </a:spcAft>
              <a:defRPr sz="2000">
                <a:solidFill>
                  <a:srgbClr val="1E242B"/>
                </a:solidFill>
                <a:latin typeface="Aptos"/>
              </a:defRPr>
            </a:pPr>
            <a:r>
              <a:t>A DataFrame helps you explore, clean, transform, and process data.</a:t>
            </a:r>
          </a:p>
        </p:txBody>
      </p:sp>
      <p:sp>
        <p:nvSpPr>
          <p:cNvPr id="6" name="Rectangle 5" descr="Decorative DataFrame grid cell."/>
          <p:cNvSpPr/>
          <p:nvPr/>
        </p:nvSpPr>
        <p:spPr>
          <a:xfrm>
            <a:off x="7315200" y="2011680"/>
            <a:ext cx="868680" cy="594360"/>
          </a:xfrm>
          <a:prstGeom prst="rect">
            <a:avLst/>
          </a:prstGeom>
          <a:solidFill>
            <a:srgbClr val="E1E6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descr="Decorative DataFrame grid cell."/>
          <p:cNvSpPr/>
          <p:nvPr/>
        </p:nvSpPr>
        <p:spPr>
          <a:xfrm>
            <a:off x="8229600" y="2011680"/>
            <a:ext cx="868680" cy="594360"/>
          </a:xfrm>
          <a:prstGeom prst="rect">
            <a:avLst/>
          </a:prstGeom>
          <a:solidFill>
            <a:srgbClr val="E1E6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descr="Decorative DataFrame grid cell."/>
          <p:cNvSpPr/>
          <p:nvPr/>
        </p:nvSpPr>
        <p:spPr>
          <a:xfrm>
            <a:off x="9144000" y="2011680"/>
            <a:ext cx="868680" cy="594360"/>
          </a:xfrm>
          <a:prstGeom prst="rect">
            <a:avLst/>
          </a:prstGeom>
          <a:solidFill>
            <a:srgbClr val="E1E6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descr="Decorative DataFrame grid cell."/>
          <p:cNvSpPr/>
          <p:nvPr/>
        </p:nvSpPr>
        <p:spPr>
          <a:xfrm>
            <a:off x="7315200" y="2651760"/>
            <a:ext cx="868680" cy="594360"/>
          </a:xfrm>
          <a:prstGeom prst="rect">
            <a:avLst/>
          </a:prstGeom>
          <a:solidFill>
            <a:srgbClr val="E1E6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descr="Decorative DataFrame grid cell."/>
          <p:cNvSpPr/>
          <p:nvPr/>
        </p:nvSpPr>
        <p:spPr>
          <a:xfrm>
            <a:off x="8229600" y="2651760"/>
            <a:ext cx="868680" cy="594360"/>
          </a:xfrm>
          <a:prstGeom prst="rect">
            <a:avLst/>
          </a:prstGeom>
          <a:solidFill>
            <a:srgbClr val="E1E6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descr="Decorative DataFrame grid cell."/>
          <p:cNvSpPr/>
          <p:nvPr/>
        </p:nvSpPr>
        <p:spPr>
          <a:xfrm>
            <a:off x="9144000" y="2651760"/>
            <a:ext cx="868680" cy="594360"/>
          </a:xfrm>
          <a:prstGeom prst="rect">
            <a:avLst/>
          </a:prstGeom>
          <a:solidFill>
            <a:srgbClr val="E1E6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descr="Decorative DataFrame grid cell."/>
          <p:cNvSpPr/>
          <p:nvPr/>
        </p:nvSpPr>
        <p:spPr>
          <a:xfrm>
            <a:off x="7315200" y="3291840"/>
            <a:ext cx="868680" cy="594360"/>
          </a:xfrm>
          <a:prstGeom prst="rect">
            <a:avLst/>
          </a:prstGeom>
          <a:solidFill>
            <a:srgbClr val="E1E6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descr="Decorative DataFrame grid cell."/>
          <p:cNvSpPr/>
          <p:nvPr/>
        </p:nvSpPr>
        <p:spPr>
          <a:xfrm>
            <a:off x="8229600" y="3291840"/>
            <a:ext cx="868680" cy="594360"/>
          </a:xfrm>
          <a:prstGeom prst="rect">
            <a:avLst/>
          </a:prstGeom>
          <a:solidFill>
            <a:srgbClr val="E1E6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descr="Decorative DataFrame grid cell."/>
          <p:cNvSpPr/>
          <p:nvPr/>
        </p:nvSpPr>
        <p:spPr>
          <a:xfrm>
            <a:off x="9144000" y="3291840"/>
            <a:ext cx="868680" cy="594360"/>
          </a:xfrm>
          <a:prstGeom prst="rect">
            <a:avLst/>
          </a:prstGeom>
          <a:solidFill>
            <a:srgbClr val="E1E6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descr="Decorative DataFrame grid cell."/>
          <p:cNvSpPr/>
          <p:nvPr/>
        </p:nvSpPr>
        <p:spPr>
          <a:xfrm>
            <a:off x="7315200" y="3931920"/>
            <a:ext cx="868680" cy="594360"/>
          </a:xfrm>
          <a:prstGeom prst="rect">
            <a:avLst/>
          </a:prstGeom>
          <a:solidFill>
            <a:srgbClr val="E1E6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descr="Decorative DataFrame grid cell."/>
          <p:cNvSpPr/>
          <p:nvPr/>
        </p:nvSpPr>
        <p:spPr>
          <a:xfrm>
            <a:off x="8229600" y="3931920"/>
            <a:ext cx="868680" cy="594360"/>
          </a:xfrm>
          <a:prstGeom prst="rect">
            <a:avLst/>
          </a:prstGeom>
          <a:solidFill>
            <a:srgbClr val="E1E6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descr="Decorative DataFrame grid cell."/>
          <p:cNvSpPr/>
          <p:nvPr/>
        </p:nvSpPr>
        <p:spPr>
          <a:xfrm>
            <a:off x="9144000" y="3931920"/>
            <a:ext cx="868680" cy="594360"/>
          </a:xfrm>
          <a:prstGeom prst="rect">
            <a:avLst/>
          </a:prstGeom>
          <a:solidFill>
            <a:srgbClr val="E1E6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descr="Diagram label: DataFrame. Grid represents rows and columns."/>
          <p:cNvSpPr txBox="1"/>
          <p:nvPr/>
        </p:nvSpPr>
        <p:spPr>
          <a:xfrm>
            <a:off x="7315200" y="1508760"/>
            <a:ext cx="2743200" cy="365760"/>
          </a:xfrm>
          <a:prstGeom prst="rect">
            <a:avLst/>
          </a:prstGeom>
          <a:noFill/>
        </p:spPr>
        <p:txBody>
          <a:bodyPr wrap="none">
            <a:spAutoFit/>
          </a:bodyPr>
          <a:lstStyle/>
          <a:p>
            <a:pPr>
              <a:defRPr sz="2000" b="1">
                <a:solidFill>
                  <a:srgbClr val="0C3143"/>
                </a:solidFill>
              </a:defRPr>
            </a:pPr>
            <a:r>
              <a:t>DataFrame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Reading and Writing Data"/>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Reading and Writing Data</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8</a:t>
            </a:r>
          </a:p>
        </p:txBody>
      </p:sp>
      <p:sp>
        <p:nvSpPr>
          <p:cNvPr id="5" name="TextBox 4" descr="Bulleted slide content: Pandas supports common formats and sources including CSV, Excel, SQL, and JSON. Functions that import data commonly begin with read_. Methods that export data commonly begin with to_. Examples: read_csv(), read_excel(), read_json(), to_csv(), and to_excel()."/>
          <p:cNvSpPr txBox="1"/>
          <p:nvPr/>
        </p:nvSpPr>
        <p:spPr>
          <a:xfrm>
            <a:off x="731520" y="1325880"/>
            <a:ext cx="10698480" cy="4754880"/>
          </a:xfrm>
          <a:prstGeom prst="rect">
            <a:avLst/>
          </a:prstGeom>
          <a:noFill/>
        </p:spPr>
        <p:txBody>
          <a:bodyPr wrap="square">
            <a:spAutoFit/>
          </a:bodyPr>
          <a:lstStyle/>
          <a:p>
            <a:pPr>
              <a:spcAft>
                <a:spcPts val="1200"/>
              </a:spcAft>
              <a:defRPr sz="2200">
                <a:solidFill>
                  <a:srgbClr val="1E242B"/>
                </a:solidFill>
                <a:latin typeface="Aptos"/>
              </a:defRPr>
            </a:pPr>
            <a:r>
              <a:t>Pandas supports common formats and sources including CSV, Excel, SQL, and JSON.</a:t>
            </a:r>
          </a:p>
          <a:p>
            <a:pPr>
              <a:spcAft>
                <a:spcPts val="1200"/>
              </a:spcAft>
              <a:defRPr sz="2200">
                <a:solidFill>
                  <a:srgbClr val="1E242B"/>
                </a:solidFill>
                <a:latin typeface="Aptos"/>
              </a:defRPr>
            </a:pPr>
            <a:r>
              <a:t>Functions that import data commonly begin with read_.</a:t>
            </a:r>
          </a:p>
          <a:p>
            <a:pPr>
              <a:spcAft>
                <a:spcPts val="1200"/>
              </a:spcAft>
              <a:defRPr sz="2200">
                <a:solidFill>
                  <a:srgbClr val="1E242B"/>
                </a:solidFill>
                <a:latin typeface="Aptos"/>
              </a:defRPr>
            </a:pPr>
            <a:r>
              <a:t>Methods that export data commonly begin with to_.</a:t>
            </a:r>
          </a:p>
          <a:p>
            <a:pPr>
              <a:spcAft>
                <a:spcPts val="1200"/>
              </a:spcAft>
              <a:defRPr sz="2200">
                <a:solidFill>
                  <a:srgbClr val="1E242B"/>
                </a:solidFill>
                <a:latin typeface="Aptos"/>
              </a:defRPr>
            </a:pPr>
            <a:r>
              <a:t>Examples: read_csv(), read_excel(), read_json(), to_csv(), and to_excel().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displays a visual representation of a data flow diagram, illustrating the movement of different data formats such as CSV, XLS, PARQUET, JSON, HDF5, and SQL, with annotations indicating read operations and data transformation steps.&#10;&#10;AI-generated content may be incorrect.">
            <a:extLst>
              <a:ext uri="{FF2B5EF4-FFF2-40B4-BE49-F238E27FC236}">
                <a16:creationId xmlns:a16="http://schemas.microsoft.com/office/drawing/2014/main" id="{6B075EE0-B33F-8C72-FA8B-86D90A13557A}"/>
              </a:ext>
            </a:extLst>
          </p:cNvPr>
          <p:cNvPicPr>
            <a:picLocks noChangeAspect="1"/>
          </p:cNvPicPr>
          <p:nvPr/>
        </p:nvPicPr>
        <p:blipFill>
          <a:blip r:embed="rId2"/>
          <a:stretch>
            <a:fillRect/>
          </a:stretch>
        </p:blipFill>
        <p:spPr>
          <a:xfrm>
            <a:off x="1066364" y="2066426"/>
            <a:ext cx="10059272" cy="2725148"/>
          </a:xfrm>
          <a:prstGeom prst="rect">
            <a:avLst/>
          </a:prstGeom>
        </p:spPr>
      </p:pic>
    </p:spTree>
    <p:extLst>
      <p:ext uri="{BB962C8B-B14F-4D97-AF65-F5344CB8AC3E}">
        <p14:creationId xmlns:p14="http://schemas.microsoft.com/office/powerpoint/2010/main" val="647389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Creating a DataFrame"/>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Creating a DataFrame</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9</a:t>
            </a:r>
          </a:p>
        </p:txBody>
      </p:sp>
      <p:sp>
        <p:nvSpPr>
          <p:cNvPr id="5" name="Rounded Rectangle 4" descr="Python code example: import pandas as pd; ; carsdataset = {;     &quot;cars&quot;: [&quot;Ferrari&quot;, &quot;Honda&quot;, &quot;Toyota&quot;],;     &quot;color&quot;: [&quot;Green&quot;, &quot;Blue&quot;, &quot;Silver&quot;]; }; ; df = pd.DataFrame(carsdataset); print(df)"/>
          <p:cNvSpPr/>
          <p:nvPr/>
        </p:nvSpPr>
        <p:spPr>
          <a:xfrm>
            <a:off x="777240" y="1417320"/>
            <a:ext cx="10424160" cy="438912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1800">
                <a:solidFill>
                  <a:srgbClr val="1E242B"/>
                </a:solidFill>
                <a:latin typeface="Courier New"/>
              </a:defRPr>
            </a:pPr>
            <a:r>
              <a:rPr dirty="0"/>
              <a:t>import pandas as pd</a:t>
            </a:r>
            <a:br>
              <a:rPr dirty="0"/>
            </a:br>
            <a:br>
              <a:rPr dirty="0"/>
            </a:br>
            <a:r>
              <a:rPr dirty="0" err="1"/>
              <a:t>carsdataset</a:t>
            </a:r>
            <a:r>
              <a:rPr dirty="0"/>
              <a:t> = {</a:t>
            </a:r>
            <a:br>
              <a:rPr dirty="0"/>
            </a:br>
            <a:r>
              <a:rPr dirty="0"/>
              <a:t>    "cars": ["Ferrari", "Honda", "Toyota"],</a:t>
            </a:r>
            <a:br>
              <a:rPr dirty="0"/>
            </a:br>
            <a:r>
              <a:rPr dirty="0"/>
              <a:t>    "color": ["Green", "Blue", "Silver"]</a:t>
            </a:r>
            <a:br>
              <a:rPr dirty="0"/>
            </a:br>
            <a:r>
              <a:rPr dirty="0"/>
              <a:t>}</a:t>
            </a:r>
            <a:br>
              <a:rPr dirty="0"/>
            </a:br>
            <a:br>
              <a:rPr dirty="0"/>
            </a:br>
            <a:r>
              <a:rPr dirty="0" err="1"/>
              <a:t>df</a:t>
            </a:r>
            <a:r>
              <a:rPr dirty="0"/>
              <a:t> = </a:t>
            </a:r>
            <a:r>
              <a:rPr dirty="0" err="1"/>
              <a:t>pd.DataFrame</a:t>
            </a:r>
            <a:r>
              <a:rPr dirty="0"/>
              <a:t>(</a:t>
            </a:r>
            <a:r>
              <a:rPr dirty="0" err="1"/>
              <a:t>carsdataset</a:t>
            </a:r>
            <a:r>
              <a:rPr dirty="0"/>
              <a:t>)</a:t>
            </a:r>
            <a:br>
              <a:rPr dirty="0"/>
            </a:br>
            <a:r>
              <a:rPr dirty="0"/>
              <a:t>print(</a:t>
            </a:r>
            <a:r>
              <a:rPr dirty="0" err="1"/>
              <a:t>df</a:t>
            </a:r>
            <a:r>
              <a:rPr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Reading Data from a CSV File"/>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Reading Data from a CSV File</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10</a:t>
            </a:r>
          </a:p>
        </p:txBody>
      </p:sp>
      <p:sp>
        <p:nvSpPr>
          <p:cNvPr id="5" name="Rounded Rectangle 4" descr="Python code example: import pandas as pd; ; df = pd.read_csv('data.csv'); print(df.to_string())"/>
          <p:cNvSpPr/>
          <p:nvPr/>
        </p:nvSpPr>
        <p:spPr>
          <a:xfrm>
            <a:off x="777240" y="1828800"/>
            <a:ext cx="10424160" cy="256032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2100">
                <a:solidFill>
                  <a:srgbClr val="1E242B"/>
                </a:solidFill>
                <a:latin typeface="Courier New"/>
              </a:defRPr>
            </a:pPr>
            <a:r>
              <a:rPr dirty="0"/>
              <a:t>import pandas as pd</a:t>
            </a:r>
            <a:br>
              <a:rPr dirty="0"/>
            </a:br>
            <a:br>
              <a:rPr dirty="0"/>
            </a:br>
            <a:r>
              <a:rPr dirty="0" err="1"/>
              <a:t>df</a:t>
            </a:r>
            <a:r>
              <a:rPr dirty="0"/>
              <a:t> = </a:t>
            </a:r>
            <a:r>
              <a:rPr dirty="0" err="1"/>
              <a:t>pd.read_csv</a:t>
            </a:r>
            <a:r>
              <a:rPr dirty="0"/>
              <a:t>('data.csv')</a:t>
            </a:r>
            <a:br>
              <a:rPr dirty="0"/>
            </a:br>
            <a:r>
              <a:rPr dirty="0"/>
              <a:t>print(</a:t>
            </a:r>
            <a:r>
              <a:rPr dirty="0" err="1"/>
              <a:t>df.to_string</a:t>
            </a:r>
            <a:r>
              <a:rPr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Reading Data from a JSON File"/>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Reading Data from a JSON File</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11</a:t>
            </a:r>
          </a:p>
        </p:txBody>
      </p:sp>
      <p:sp>
        <p:nvSpPr>
          <p:cNvPr id="5" name="Rounded Rectangle 4" descr="Python code example: import pandas as pd; ; df = pd.read_json('data.json'); print(df.to_string())"/>
          <p:cNvSpPr/>
          <p:nvPr/>
        </p:nvSpPr>
        <p:spPr>
          <a:xfrm>
            <a:off x="777240" y="1828800"/>
            <a:ext cx="10424160" cy="256032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2100">
                <a:solidFill>
                  <a:srgbClr val="1E242B"/>
                </a:solidFill>
                <a:latin typeface="Courier New"/>
              </a:defRPr>
            </a:pPr>
            <a:r>
              <a:rPr dirty="0"/>
              <a:t>import pandas as pd</a:t>
            </a:r>
            <a:br>
              <a:rPr dirty="0"/>
            </a:br>
            <a:br>
              <a:rPr dirty="0"/>
            </a:br>
            <a:r>
              <a:rPr dirty="0" err="1"/>
              <a:t>df</a:t>
            </a:r>
            <a:r>
              <a:rPr dirty="0"/>
              <a:t> = </a:t>
            </a:r>
            <a:r>
              <a:rPr dirty="0" err="1"/>
              <a:t>pd.read_json</a:t>
            </a:r>
            <a:r>
              <a:rPr dirty="0"/>
              <a:t>('</a:t>
            </a:r>
            <a:r>
              <a:rPr dirty="0" err="1"/>
              <a:t>data.json</a:t>
            </a:r>
            <a:r>
              <a:rPr dirty="0"/>
              <a:t>')</a:t>
            </a:r>
            <a:br>
              <a:rPr dirty="0"/>
            </a:br>
            <a:r>
              <a:rPr dirty="0"/>
              <a:t>print(</a:t>
            </a:r>
            <a:r>
              <a:rPr dirty="0" err="1"/>
              <a:t>df.to_string</a:t>
            </a:r>
            <a:r>
              <a:rPr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Reading Data from an Excel Workbook"/>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Reading Data from an Excel Workbook</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12</a:t>
            </a:r>
          </a:p>
        </p:txBody>
      </p:sp>
      <p:sp>
        <p:nvSpPr>
          <p:cNvPr id="5" name="TextBox 4" descr="Bulleted slide content: Use read_excel() to load an Excel worksheet. You can identify a sheet by name or index and optionally select specific columns."/>
          <p:cNvSpPr txBox="1"/>
          <p:nvPr/>
        </p:nvSpPr>
        <p:spPr>
          <a:xfrm>
            <a:off x="731520" y="1234440"/>
            <a:ext cx="10698480" cy="822960"/>
          </a:xfrm>
          <a:prstGeom prst="rect">
            <a:avLst/>
          </a:prstGeom>
          <a:noFill/>
        </p:spPr>
        <p:txBody>
          <a:bodyPr wrap="square">
            <a:spAutoFit/>
          </a:bodyPr>
          <a:lstStyle/>
          <a:p>
            <a:pPr>
              <a:spcAft>
                <a:spcPts val="1200"/>
              </a:spcAft>
              <a:defRPr sz="1900">
                <a:solidFill>
                  <a:srgbClr val="1E242B"/>
                </a:solidFill>
                <a:latin typeface="Aptos"/>
              </a:defRPr>
            </a:pPr>
            <a:r>
              <a:t>Use read_excel() to load an Excel worksheet. You can identify a sheet by name or index and optionally select specific columns.</a:t>
            </a:r>
          </a:p>
        </p:txBody>
      </p:sp>
      <p:sp>
        <p:nvSpPr>
          <p:cNvPr id="6" name="Rounded Rectangle 5" descr="Python code example: import pandas as pd; ; df = pd.read_excel('your_file.xlsx'); df_sheet2 = pd.read_excel('your_file.xlsx', sheet_name='Sheet2'); df_sheet_index_1 = pd.read_excel('your_file.xlsx', sheet_name=1); df_specific_cols = pd.read_excel('your_file.xlsx', usecols=['Column1', 'Column3'])"/>
          <p:cNvSpPr/>
          <p:nvPr/>
        </p:nvSpPr>
        <p:spPr>
          <a:xfrm>
            <a:off x="777240" y="2057400"/>
            <a:ext cx="10424160" cy="329184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1600">
                <a:solidFill>
                  <a:srgbClr val="1E242B"/>
                </a:solidFill>
                <a:latin typeface="Courier New"/>
              </a:defRPr>
            </a:pPr>
            <a:r>
              <a:rPr dirty="0"/>
              <a:t>import pandas as pd</a:t>
            </a:r>
            <a:br>
              <a:rPr dirty="0"/>
            </a:br>
            <a:br>
              <a:rPr dirty="0"/>
            </a:br>
            <a:r>
              <a:rPr dirty="0" err="1"/>
              <a:t>df</a:t>
            </a:r>
            <a:r>
              <a:rPr dirty="0"/>
              <a:t> = </a:t>
            </a:r>
            <a:r>
              <a:rPr dirty="0" err="1"/>
              <a:t>pd.read_excel</a:t>
            </a:r>
            <a:r>
              <a:rPr dirty="0"/>
              <a:t>('your_file.xlsx')</a:t>
            </a:r>
            <a:br>
              <a:rPr dirty="0"/>
            </a:br>
            <a:r>
              <a:rPr dirty="0"/>
              <a:t>df_sheet2 = </a:t>
            </a:r>
            <a:r>
              <a:rPr dirty="0" err="1"/>
              <a:t>pd.read_excel</a:t>
            </a:r>
            <a:r>
              <a:rPr dirty="0"/>
              <a:t>('your_file.xlsx', </a:t>
            </a:r>
            <a:r>
              <a:rPr dirty="0" err="1"/>
              <a:t>sheet_name</a:t>
            </a:r>
            <a:r>
              <a:rPr dirty="0"/>
              <a:t>='Sheet2')</a:t>
            </a:r>
            <a:br>
              <a:rPr dirty="0"/>
            </a:br>
            <a:r>
              <a:rPr dirty="0"/>
              <a:t>df_sheet_index_1 = </a:t>
            </a:r>
            <a:r>
              <a:rPr dirty="0" err="1"/>
              <a:t>pd.read_excel</a:t>
            </a:r>
            <a:r>
              <a:rPr dirty="0"/>
              <a:t>('your_file.xlsx', </a:t>
            </a:r>
            <a:r>
              <a:rPr dirty="0" err="1"/>
              <a:t>sheet_name</a:t>
            </a:r>
            <a:r>
              <a:rPr dirty="0"/>
              <a:t>=1)</a:t>
            </a:r>
            <a:br>
              <a:rPr dirty="0"/>
            </a:br>
            <a:r>
              <a:rPr dirty="0" err="1"/>
              <a:t>df_specific_cols</a:t>
            </a:r>
            <a:r>
              <a:rPr dirty="0"/>
              <a:t> = </a:t>
            </a:r>
            <a:r>
              <a:rPr dirty="0" err="1"/>
              <a:t>pd.read_excel</a:t>
            </a:r>
            <a:r>
              <a:rPr dirty="0"/>
              <a:t>('your_file.xlsx', </a:t>
            </a:r>
            <a:r>
              <a:rPr dirty="0" err="1"/>
              <a:t>usecols</a:t>
            </a:r>
            <a:r>
              <a:rPr dirty="0"/>
              <a:t>=['Column1', 'Column3'])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Writing Data to a CSV File"/>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Writing Data to a CSV File</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13</a:t>
            </a:r>
          </a:p>
        </p:txBody>
      </p:sp>
      <p:sp>
        <p:nvSpPr>
          <p:cNvPr id="5" name="Rounded Rectangle 4" descr="Python code example: import pandas as pd; ; data = {'col1': [1, 2, 3], 'col2': ['A', 'B', 'C']}; df = pd.DataFrame(data); ; df.to_csv('output.csv', index=False)"/>
          <p:cNvSpPr/>
          <p:nvPr/>
        </p:nvSpPr>
        <p:spPr>
          <a:xfrm>
            <a:off x="777240" y="1645920"/>
            <a:ext cx="10424160" cy="310896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1900">
                <a:solidFill>
                  <a:srgbClr val="1E242B"/>
                </a:solidFill>
                <a:latin typeface="Courier New"/>
              </a:defRPr>
            </a:pPr>
            <a:r>
              <a:rPr dirty="0"/>
              <a:t>import pandas as pd</a:t>
            </a:r>
            <a:br>
              <a:rPr dirty="0"/>
            </a:br>
            <a:br>
              <a:rPr dirty="0"/>
            </a:br>
            <a:r>
              <a:rPr dirty="0"/>
              <a:t>data = {'col1': [1, 2, 3], 'col2': ['A', 'B', 'C']}</a:t>
            </a:r>
            <a:br>
              <a:rPr dirty="0"/>
            </a:br>
            <a:r>
              <a:rPr dirty="0" err="1"/>
              <a:t>df</a:t>
            </a:r>
            <a:r>
              <a:rPr dirty="0"/>
              <a:t> = </a:t>
            </a:r>
            <a:r>
              <a:rPr dirty="0" err="1"/>
              <a:t>pd.DataFrame</a:t>
            </a:r>
            <a:r>
              <a:rPr dirty="0"/>
              <a:t>(data)</a:t>
            </a:r>
            <a:br>
              <a:rPr dirty="0"/>
            </a:br>
            <a:br>
              <a:rPr dirty="0"/>
            </a:br>
            <a:r>
              <a:rPr dirty="0" err="1"/>
              <a:t>df.to_csv</a:t>
            </a:r>
            <a:r>
              <a:rPr dirty="0"/>
              <a:t>('output.csv', index=False)</a:t>
            </a:r>
          </a:p>
        </p:txBody>
      </p:sp>
      <p:sp>
        <p:nvSpPr>
          <p:cNvPr id="6" name="TextBox 5" descr="Bulleted slide content: index=False prevents the DataFrame index from being written as a separate CSV column."/>
          <p:cNvSpPr txBox="1"/>
          <p:nvPr/>
        </p:nvSpPr>
        <p:spPr>
          <a:xfrm>
            <a:off x="731520" y="4937760"/>
            <a:ext cx="10698480" cy="731520"/>
          </a:xfrm>
          <a:prstGeom prst="rect">
            <a:avLst/>
          </a:prstGeom>
          <a:noFill/>
        </p:spPr>
        <p:txBody>
          <a:bodyPr wrap="square">
            <a:spAutoFit/>
          </a:bodyPr>
          <a:lstStyle/>
          <a:p>
            <a:pPr>
              <a:spcAft>
                <a:spcPts val="1200"/>
              </a:spcAft>
              <a:defRPr sz="1800">
                <a:solidFill>
                  <a:srgbClr val="1E242B"/>
                </a:solidFill>
                <a:latin typeface="Aptos"/>
              </a:defRPr>
            </a:pPr>
            <a:r>
              <a:t>index=False prevents the DataFrame index from being written as a separate CSV column.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Writing Data to an Excel File"/>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Writing Data to an Excel File</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14</a:t>
            </a:r>
          </a:p>
        </p:txBody>
      </p:sp>
      <p:sp>
        <p:nvSpPr>
          <p:cNvPr id="5" name="Rounded Rectangle 4" descr="Python code example: import pandas as pd; ; data = {'col1': [1, 2], 'col2': [3, 4]}; df = pd.DataFrame(data); ; df.to_excel('output.xlsx', sheet_name='Sheet1', index=False)"/>
          <p:cNvSpPr/>
          <p:nvPr/>
        </p:nvSpPr>
        <p:spPr>
          <a:xfrm>
            <a:off x="777240" y="1645920"/>
            <a:ext cx="10424160" cy="320040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1900">
                <a:solidFill>
                  <a:srgbClr val="1E242B"/>
                </a:solidFill>
                <a:latin typeface="Courier New"/>
              </a:defRPr>
            </a:pPr>
            <a:r>
              <a:rPr dirty="0"/>
              <a:t>import pandas as pd</a:t>
            </a:r>
            <a:br>
              <a:rPr dirty="0"/>
            </a:br>
            <a:br>
              <a:rPr dirty="0"/>
            </a:br>
            <a:r>
              <a:rPr dirty="0"/>
              <a:t>data = {'col1': [1, 2], 'col2': [3, 4]}</a:t>
            </a:r>
            <a:br>
              <a:rPr dirty="0"/>
            </a:br>
            <a:r>
              <a:rPr dirty="0" err="1"/>
              <a:t>df</a:t>
            </a:r>
            <a:r>
              <a:rPr dirty="0"/>
              <a:t> = </a:t>
            </a:r>
            <a:r>
              <a:rPr dirty="0" err="1"/>
              <a:t>pd.DataFrame</a:t>
            </a:r>
            <a:r>
              <a:rPr dirty="0"/>
              <a:t>(data)</a:t>
            </a:r>
            <a:br>
              <a:rPr dirty="0"/>
            </a:br>
            <a:br>
              <a:rPr dirty="0"/>
            </a:br>
            <a:r>
              <a:rPr dirty="0" err="1"/>
              <a:t>df.to_excel</a:t>
            </a:r>
            <a:r>
              <a:rPr dirty="0"/>
              <a:t>('output.xlsx', </a:t>
            </a:r>
            <a:r>
              <a:rPr dirty="0" err="1"/>
              <a:t>sheet_name</a:t>
            </a:r>
            <a:r>
              <a:rPr dirty="0"/>
              <a:t>='Sheet1', index=False)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Viewing Data in Pandas"/>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Viewing Data in Pandas</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15</a:t>
            </a:r>
          </a:p>
        </p:txBody>
      </p:sp>
      <p:sp>
        <p:nvSpPr>
          <p:cNvPr id="5" name="Rounded Rectangle 4" descr="Python code example: import pandas as pd; ; df = pd.read_csv('data.csv'); ; df.head(); df.tail()"/>
          <p:cNvSpPr/>
          <p:nvPr/>
        </p:nvSpPr>
        <p:spPr>
          <a:xfrm>
            <a:off x="777240" y="1737360"/>
            <a:ext cx="10424160" cy="283464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2100">
                <a:solidFill>
                  <a:srgbClr val="1E242B"/>
                </a:solidFill>
                <a:latin typeface="Courier New"/>
              </a:defRPr>
            </a:pPr>
            <a:r>
              <a:rPr dirty="0"/>
              <a:t>import pandas as pd</a:t>
            </a:r>
            <a:br>
              <a:rPr dirty="0"/>
            </a:br>
            <a:br>
              <a:rPr dirty="0"/>
            </a:br>
            <a:r>
              <a:rPr dirty="0" err="1"/>
              <a:t>df</a:t>
            </a:r>
            <a:r>
              <a:rPr dirty="0"/>
              <a:t> = </a:t>
            </a:r>
            <a:r>
              <a:rPr dirty="0" err="1"/>
              <a:t>pd.read_csv</a:t>
            </a:r>
            <a:r>
              <a:rPr dirty="0"/>
              <a:t>('data.csv')</a:t>
            </a:r>
            <a:br>
              <a:rPr dirty="0"/>
            </a:br>
            <a:br>
              <a:rPr dirty="0"/>
            </a:br>
            <a:r>
              <a:rPr dirty="0" err="1"/>
              <a:t>df.head</a:t>
            </a:r>
            <a:r>
              <a:rPr dirty="0"/>
              <a:t>()</a:t>
            </a:r>
            <a:br>
              <a:rPr dirty="0"/>
            </a:br>
            <a:r>
              <a:rPr dirty="0" err="1"/>
              <a:t>df.tail</a:t>
            </a:r>
            <a:r>
              <a:rPr dirty="0"/>
              <a:t>()</a:t>
            </a:r>
          </a:p>
        </p:txBody>
      </p:sp>
      <p:sp>
        <p:nvSpPr>
          <p:cNvPr id="6" name="TextBox 5" descr="Bulleted slide content: head() previews the first rows; tail() previews the last rows."/>
          <p:cNvSpPr txBox="1"/>
          <p:nvPr/>
        </p:nvSpPr>
        <p:spPr>
          <a:xfrm>
            <a:off x="731520" y="4800600"/>
            <a:ext cx="10698480" cy="731520"/>
          </a:xfrm>
          <a:prstGeom prst="rect">
            <a:avLst/>
          </a:prstGeom>
          <a:noFill/>
        </p:spPr>
        <p:txBody>
          <a:bodyPr wrap="square">
            <a:spAutoFit/>
          </a:bodyPr>
          <a:lstStyle/>
          <a:p>
            <a:pPr>
              <a:spcAft>
                <a:spcPts val="1200"/>
              </a:spcAft>
              <a:defRPr sz="1900">
                <a:solidFill>
                  <a:srgbClr val="1E242B"/>
                </a:solidFill>
                <a:latin typeface="Aptos"/>
              </a:defRPr>
            </a:pPr>
            <a:r>
              <a:t>head() previews the first rows; tail() previews the last rows.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Inspecting DataFrame Information"/>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Inspecting DataFrame Information</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16</a:t>
            </a:r>
          </a:p>
        </p:txBody>
      </p:sp>
      <p:sp>
        <p:nvSpPr>
          <p:cNvPr id="5" name="Rounded Rectangle 4" descr="Python code example: import pandas as pd; ; df = pd.read_csv('data.csv'); df.info()"/>
          <p:cNvSpPr/>
          <p:nvPr/>
        </p:nvSpPr>
        <p:spPr>
          <a:xfrm>
            <a:off x="777240" y="1828800"/>
            <a:ext cx="10424160" cy="256032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2100">
                <a:solidFill>
                  <a:srgbClr val="1E242B"/>
                </a:solidFill>
                <a:latin typeface="Courier New"/>
              </a:defRPr>
            </a:pPr>
            <a:r>
              <a:rPr dirty="0"/>
              <a:t>import pandas as pd</a:t>
            </a:r>
            <a:br>
              <a:rPr dirty="0"/>
            </a:br>
            <a:br>
              <a:rPr dirty="0"/>
            </a:br>
            <a:r>
              <a:rPr dirty="0" err="1"/>
              <a:t>df</a:t>
            </a:r>
            <a:r>
              <a:rPr dirty="0"/>
              <a:t> = </a:t>
            </a:r>
            <a:r>
              <a:rPr dirty="0" err="1"/>
              <a:t>pd.read_csv</a:t>
            </a:r>
            <a:r>
              <a:rPr dirty="0"/>
              <a:t>('data.csv')</a:t>
            </a:r>
            <a:br>
              <a:rPr dirty="0"/>
            </a:br>
            <a:r>
              <a:rPr dirty="0"/>
              <a:t>df.info()</a:t>
            </a:r>
          </a:p>
        </p:txBody>
      </p:sp>
      <p:sp>
        <p:nvSpPr>
          <p:cNvPr id="6" name="TextBox 5" descr="Bulleted slide content: info() provides a concise summary of the DataFrame."/>
          <p:cNvSpPr txBox="1"/>
          <p:nvPr/>
        </p:nvSpPr>
        <p:spPr>
          <a:xfrm>
            <a:off x="731520" y="4617720"/>
            <a:ext cx="10698480" cy="640080"/>
          </a:xfrm>
          <a:prstGeom prst="rect">
            <a:avLst/>
          </a:prstGeom>
          <a:noFill/>
        </p:spPr>
        <p:txBody>
          <a:bodyPr wrap="square">
            <a:spAutoFit/>
          </a:bodyPr>
          <a:lstStyle/>
          <a:p>
            <a:pPr>
              <a:spcAft>
                <a:spcPts val="1200"/>
              </a:spcAft>
              <a:defRPr sz="1900">
                <a:solidFill>
                  <a:srgbClr val="1E242B"/>
                </a:solidFill>
                <a:latin typeface="Aptos"/>
              </a:defRPr>
            </a:pPr>
            <a:r>
              <a:t>info() provides a concise summary of the DataFrame.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Data Cleaning: Removing Missing Values"/>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Data Cleaning: Removing Missing Values</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17</a:t>
            </a:r>
          </a:p>
        </p:txBody>
      </p:sp>
      <p:sp>
        <p:nvSpPr>
          <p:cNvPr id="5" name="TextBox 4" descr="Bulleted slide content: Missing values can affect analysis results. dropna() returns data with rows containing missing values removed. Use inplace=True when you intentionally want to modify the original DataFrame."/>
          <p:cNvSpPr txBox="1"/>
          <p:nvPr/>
        </p:nvSpPr>
        <p:spPr>
          <a:xfrm>
            <a:off x="731520" y="1325880"/>
            <a:ext cx="5760720" cy="4023360"/>
          </a:xfrm>
          <a:prstGeom prst="rect">
            <a:avLst/>
          </a:prstGeom>
          <a:noFill/>
        </p:spPr>
        <p:txBody>
          <a:bodyPr wrap="square">
            <a:spAutoFit/>
          </a:bodyPr>
          <a:lstStyle/>
          <a:p>
            <a:pPr>
              <a:spcAft>
                <a:spcPts val="1200"/>
              </a:spcAft>
              <a:defRPr sz="1900">
                <a:solidFill>
                  <a:srgbClr val="1E242B"/>
                </a:solidFill>
                <a:latin typeface="Aptos"/>
              </a:defRPr>
            </a:pPr>
            <a:r>
              <a:t>Missing values can affect analysis results.</a:t>
            </a:r>
          </a:p>
          <a:p>
            <a:pPr>
              <a:spcAft>
                <a:spcPts val="1200"/>
              </a:spcAft>
              <a:defRPr sz="1900">
                <a:solidFill>
                  <a:srgbClr val="1E242B"/>
                </a:solidFill>
                <a:latin typeface="Aptos"/>
              </a:defRPr>
            </a:pPr>
            <a:r>
              <a:t>dropna() returns data with rows containing missing values removed.</a:t>
            </a:r>
          </a:p>
          <a:p>
            <a:pPr>
              <a:spcAft>
                <a:spcPts val="1200"/>
              </a:spcAft>
              <a:defRPr sz="1900">
                <a:solidFill>
                  <a:srgbClr val="1E242B"/>
                </a:solidFill>
                <a:latin typeface="Aptos"/>
              </a:defRPr>
            </a:pPr>
            <a:r>
              <a:t>Use inplace=True when you intentionally want to modify the original DataFrame.</a:t>
            </a:r>
          </a:p>
        </p:txBody>
      </p:sp>
      <p:sp>
        <p:nvSpPr>
          <p:cNvPr id="6" name="Rounded Rectangle 5" descr="Python code example: new_df = df.dropna(); ; # Modify original DataFrame:; df.dropna(inplace=True)"/>
          <p:cNvSpPr/>
          <p:nvPr/>
        </p:nvSpPr>
        <p:spPr>
          <a:xfrm>
            <a:off x="6812280" y="1828800"/>
            <a:ext cx="4572000" cy="228600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1700">
                <a:solidFill>
                  <a:srgbClr val="1E242B"/>
                </a:solidFill>
                <a:latin typeface="Courier New"/>
              </a:defRPr>
            </a:pPr>
            <a:r>
              <a:rPr dirty="0" err="1"/>
              <a:t>new_df</a:t>
            </a:r>
            <a:r>
              <a:rPr dirty="0"/>
              <a:t> = </a:t>
            </a:r>
            <a:r>
              <a:rPr dirty="0" err="1"/>
              <a:t>df.dropna</a:t>
            </a:r>
            <a:r>
              <a:rPr dirty="0"/>
              <a:t>()</a:t>
            </a:r>
            <a:br>
              <a:rPr dirty="0"/>
            </a:br>
            <a:br>
              <a:rPr dirty="0"/>
            </a:br>
            <a:r>
              <a:rPr dirty="0"/>
              <a:t># Modify original </a:t>
            </a:r>
            <a:r>
              <a:rPr dirty="0" err="1"/>
              <a:t>DataFrame</a:t>
            </a:r>
            <a:r>
              <a:rPr dirty="0"/>
              <a:t>:</a:t>
            </a:r>
            <a:br>
              <a:rPr dirty="0"/>
            </a:br>
            <a:r>
              <a:rPr dirty="0" err="1"/>
              <a:t>df.dropna</a:t>
            </a:r>
            <a:r>
              <a:rPr dirty="0"/>
              <a:t>(</a:t>
            </a:r>
            <a:r>
              <a:rPr dirty="0" err="1"/>
              <a:t>inplace</a:t>
            </a:r>
            <a:r>
              <a:rPr dirty="0"/>
              <a:t>=True)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Data Cleaning: Replacing Missing Values"/>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Data Cleaning: Replacing Missing Values</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18</a:t>
            </a:r>
          </a:p>
        </p:txBody>
      </p:sp>
      <p:sp>
        <p:nvSpPr>
          <p:cNvPr id="5" name="TextBox 4" descr="Bulleted slide content: fillna() replaces missing values with a specified value."/>
          <p:cNvSpPr txBox="1"/>
          <p:nvPr/>
        </p:nvSpPr>
        <p:spPr>
          <a:xfrm>
            <a:off x="731520" y="1417320"/>
            <a:ext cx="10698480" cy="640080"/>
          </a:xfrm>
          <a:prstGeom prst="rect">
            <a:avLst/>
          </a:prstGeom>
          <a:noFill/>
        </p:spPr>
        <p:txBody>
          <a:bodyPr wrap="square">
            <a:spAutoFit/>
          </a:bodyPr>
          <a:lstStyle/>
          <a:p>
            <a:pPr>
              <a:spcAft>
                <a:spcPts val="1200"/>
              </a:spcAft>
              <a:defRPr sz="2100">
                <a:solidFill>
                  <a:srgbClr val="1E242B"/>
                </a:solidFill>
                <a:latin typeface="Aptos"/>
              </a:defRPr>
            </a:pPr>
            <a:r>
              <a:t>fillna() replaces missing values with a specified value.</a:t>
            </a:r>
          </a:p>
        </p:txBody>
      </p:sp>
      <p:sp>
        <p:nvSpPr>
          <p:cNvPr id="6" name="Rounded Rectangle 5" descr="Python code example: import pandas as pd; ; df = pd.read_csv('data.csv'); df.fillna(450, inplace=True)"/>
          <p:cNvSpPr/>
          <p:nvPr/>
        </p:nvSpPr>
        <p:spPr>
          <a:xfrm>
            <a:off x="777240" y="2148840"/>
            <a:ext cx="10424160" cy="256032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2000">
                <a:solidFill>
                  <a:srgbClr val="1E242B"/>
                </a:solidFill>
                <a:latin typeface="Courier New"/>
              </a:defRPr>
            </a:pPr>
            <a:r>
              <a:rPr dirty="0"/>
              <a:t>import pandas as pd</a:t>
            </a:r>
            <a:br>
              <a:rPr dirty="0"/>
            </a:br>
            <a:br>
              <a:rPr dirty="0"/>
            </a:br>
            <a:r>
              <a:rPr dirty="0" err="1"/>
              <a:t>df</a:t>
            </a:r>
            <a:r>
              <a:rPr dirty="0"/>
              <a:t> = </a:t>
            </a:r>
            <a:r>
              <a:rPr dirty="0" err="1"/>
              <a:t>pd.read_csv</a:t>
            </a:r>
            <a:r>
              <a:rPr dirty="0"/>
              <a:t>('data.csv')</a:t>
            </a:r>
            <a:br>
              <a:rPr dirty="0"/>
            </a:br>
            <a:r>
              <a:rPr dirty="0" err="1"/>
              <a:t>df.fillna</a:t>
            </a:r>
            <a:r>
              <a:rPr dirty="0"/>
              <a:t>(450, </a:t>
            </a:r>
            <a:r>
              <a:rPr dirty="0" err="1"/>
              <a:t>inplace</a:t>
            </a:r>
            <a:r>
              <a:rPr dirty="0"/>
              <a:t>=True)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Example DataFrame for Slicing"/>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Example DataFrame for Slicing</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19</a:t>
            </a:r>
          </a:p>
        </p:txBody>
      </p:sp>
      <p:sp>
        <p:nvSpPr>
          <p:cNvPr id="5" name="Rounded Rectangle 4" descr="Python code example: import pandas as pd; ; player_data = [;  ['Player 1', 32, 75, 5428000], ['Player 2', 33, 74, 3428000],;  ['Player 3', 34, 70, 8428000], ['Player 4', 35, 80, 4428000],;  ['Player 5', 36, 100, 4528000], ['Player 6', 38, 72, 7028000],;  ['Player 7', 22, 85, 2528000]; ]; df = pd.DataFrame(player_data, columns=['Name','Age','Weight','Salary'])"/>
          <p:cNvSpPr/>
          <p:nvPr/>
        </p:nvSpPr>
        <p:spPr>
          <a:xfrm>
            <a:off x="777240" y="1325880"/>
            <a:ext cx="10424160" cy="448056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1400">
                <a:solidFill>
                  <a:srgbClr val="1E242B"/>
                </a:solidFill>
                <a:latin typeface="Courier New"/>
              </a:defRPr>
            </a:pPr>
            <a:r>
              <a:rPr dirty="0"/>
              <a:t>import pandas as pd</a:t>
            </a:r>
            <a:br>
              <a:rPr dirty="0"/>
            </a:br>
            <a:br>
              <a:rPr dirty="0"/>
            </a:br>
            <a:r>
              <a:rPr dirty="0" err="1"/>
              <a:t>player_data</a:t>
            </a:r>
            <a:r>
              <a:rPr dirty="0"/>
              <a:t> = [</a:t>
            </a:r>
            <a:br>
              <a:rPr dirty="0"/>
            </a:br>
            <a:r>
              <a:rPr dirty="0"/>
              <a:t> ['Player 1', 32, 75, 5428000], ['Player 2', 33, 74, 3428000],</a:t>
            </a:r>
            <a:br>
              <a:rPr dirty="0"/>
            </a:br>
            <a:r>
              <a:rPr dirty="0"/>
              <a:t> ['Player 3', 34, 70, 8428000], ['Player 4', 35, 80, 4428000],</a:t>
            </a:r>
            <a:br>
              <a:rPr dirty="0"/>
            </a:br>
            <a:r>
              <a:rPr dirty="0"/>
              <a:t> ['Player 5', 36, 100, 4528000], ['Player 6', 38, 72, 7028000],</a:t>
            </a:r>
            <a:br>
              <a:rPr dirty="0"/>
            </a:br>
            <a:r>
              <a:rPr dirty="0"/>
              <a:t> ['Player 7', 22, 85, 2528000]</a:t>
            </a:r>
            <a:br>
              <a:rPr dirty="0"/>
            </a:br>
            <a:r>
              <a:rPr dirty="0"/>
              <a:t>]</a:t>
            </a:r>
            <a:br>
              <a:rPr dirty="0"/>
            </a:br>
            <a:r>
              <a:rPr dirty="0" err="1"/>
              <a:t>df</a:t>
            </a:r>
            <a:r>
              <a:rPr dirty="0"/>
              <a:t> = </a:t>
            </a:r>
            <a:r>
              <a:rPr dirty="0" err="1"/>
              <a:t>pd.DataFrame</a:t>
            </a:r>
            <a:r>
              <a:rPr dirty="0"/>
              <a:t>(</a:t>
            </a:r>
            <a:r>
              <a:rPr dirty="0" err="1"/>
              <a:t>player_data</a:t>
            </a:r>
            <a:r>
              <a:rPr dirty="0"/>
              <a:t>, columns=['</a:t>
            </a:r>
            <a:r>
              <a:rPr dirty="0" err="1"/>
              <a:t>Name','Age','Weight','Salary</a:t>
            </a:r>
            <a:r>
              <a:rPr dirty="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Slicing Rows with iloc"/>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Slicing Rows with iloc</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20</a:t>
            </a:r>
          </a:p>
        </p:txBody>
      </p:sp>
      <p:sp>
        <p:nvSpPr>
          <p:cNvPr id="5" name="TextBox 4" descr="Bulleted slide content: Row slicing selects a set of rows while keeping all columns."/>
          <p:cNvSpPr txBox="1"/>
          <p:nvPr/>
        </p:nvSpPr>
        <p:spPr>
          <a:xfrm>
            <a:off x="731520" y="1371600"/>
            <a:ext cx="10698480" cy="640080"/>
          </a:xfrm>
          <a:prstGeom prst="rect">
            <a:avLst/>
          </a:prstGeom>
          <a:noFill/>
        </p:spPr>
        <p:txBody>
          <a:bodyPr wrap="square">
            <a:spAutoFit/>
          </a:bodyPr>
          <a:lstStyle/>
          <a:p>
            <a:pPr>
              <a:spcAft>
                <a:spcPts val="1200"/>
              </a:spcAft>
              <a:defRPr sz="2100">
                <a:solidFill>
                  <a:srgbClr val="1E242B"/>
                </a:solidFill>
                <a:latin typeface="Aptos"/>
              </a:defRPr>
            </a:pPr>
            <a:r>
              <a:t>Row slicing selects a set of rows while keeping all columns.</a:t>
            </a:r>
          </a:p>
        </p:txBody>
      </p:sp>
      <p:sp>
        <p:nvSpPr>
          <p:cNvPr id="6" name="Rounded Rectangle 5" descr="Python code example: df1 = df.iloc[0:3]; print(df1)"/>
          <p:cNvSpPr/>
          <p:nvPr/>
        </p:nvSpPr>
        <p:spPr>
          <a:xfrm>
            <a:off x="777240" y="2194560"/>
            <a:ext cx="10424160" cy="182880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2200">
                <a:solidFill>
                  <a:srgbClr val="1E242B"/>
                </a:solidFill>
                <a:latin typeface="Courier New"/>
              </a:defRPr>
            </a:pPr>
            <a:r>
              <a:rPr dirty="0"/>
              <a:t>df1 = </a:t>
            </a:r>
            <a:r>
              <a:rPr dirty="0" err="1"/>
              <a:t>df.iloc</a:t>
            </a:r>
            <a:r>
              <a:rPr dirty="0"/>
              <a:t>[0:3]</a:t>
            </a:r>
            <a:br>
              <a:rPr dirty="0"/>
            </a:br>
            <a:r>
              <a:rPr dirty="0"/>
              <a:t>print(df1)</a:t>
            </a:r>
          </a:p>
        </p:txBody>
      </p:sp>
      <p:sp>
        <p:nvSpPr>
          <p:cNvPr id="7" name="TextBox 6" descr="Bulleted slide content: This selects rows at positions 0, 1, and 2."/>
          <p:cNvSpPr txBox="1"/>
          <p:nvPr/>
        </p:nvSpPr>
        <p:spPr>
          <a:xfrm>
            <a:off x="731520" y="4297680"/>
            <a:ext cx="10698480" cy="640080"/>
          </a:xfrm>
          <a:prstGeom prst="rect">
            <a:avLst/>
          </a:prstGeom>
          <a:noFill/>
        </p:spPr>
        <p:txBody>
          <a:bodyPr wrap="square">
            <a:spAutoFit/>
          </a:bodyPr>
          <a:lstStyle/>
          <a:p>
            <a:pPr>
              <a:spcAft>
                <a:spcPts val="1200"/>
              </a:spcAft>
              <a:defRPr sz="1900">
                <a:solidFill>
                  <a:srgbClr val="1E242B"/>
                </a:solidFill>
                <a:latin typeface="Aptos"/>
              </a:defRPr>
            </a:pPr>
            <a:r>
              <a:t>This selects rows at positions 0, 1, and 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Slicing Columns with iloc"/>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Slicing Columns with iloc</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21</a:t>
            </a:r>
          </a:p>
        </p:txBody>
      </p:sp>
      <p:sp>
        <p:nvSpPr>
          <p:cNvPr id="5" name="TextBox 4" descr="Bulleted slide content: Column slicing selects a set of columns while keeping all rows."/>
          <p:cNvSpPr txBox="1"/>
          <p:nvPr/>
        </p:nvSpPr>
        <p:spPr>
          <a:xfrm>
            <a:off x="731520" y="1371600"/>
            <a:ext cx="10698480" cy="640080"/>
          </a:xfrm>
          <a:prstGeom prst="rect">
            <a:avLst/>
          </a:prstGeom>
          <a:noFill/>
        </p:spPr>
        <p:txBody>
          <a:bodyPr wrap="square">
            <a:spAutoFit/>
          </a:bodyPr>
          <a:lstStyle/>
          <a:p>
            <a:pPr>
              <a:spcAft>
                <a:spcPts val="1200"/>
              </a:spcAft>
              <a:defRPr sz="2100">
                <a:solidFill>
                  <a:srgbClr val="1E242B"/>
                </a:solidFill>
                <a:latin typeface="Aptos"/>
              </a:defRPr>
            </a:pPr>
            <a:r>
              <a:t>Column slicing selects a set of columns while keeping all rows.</a:t>
            </a:r>
          </a:p>
        </p:txBody>
      </p:sp>
      <p:sp>
        <p:nvSpPr>
          <p:cNvPr id="6" name="Rounded Rectangle 5" descr="Python code example: df1 = df.iloc[:, 0:3]; print(df1)"/>
          <p:cNvSpPr/>
          <p:nvPr/>
        </p:nvSpPr>
        <p:spPr>
          <a:xfrm>
            <a:off x="777240" y="2194560"/>
            <a:ext cx="10424160" cy="182880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2200">
                <a:solidFill>
                  <a:srgbClr val="1E242B"/>
                </a:solidFill>
                <a:latin typeface="Courier New"/>
              </a:defRPr>
            </a:pPr>
            <a:r>
              <a:rPr dirty="0"/>
              <a:t>df1 = </a:t>
            </a:r>
            <a:r>
              <a:rPr dirty="0" err="1"/>
              <a:t>df.iloc</a:t>
            </a:r>
            <a:r>
              <a:rPr dirty="0"/>
              <a:t>[:, 0:3]</a:t>
            </a:r>
            <a:br>
              <a:rPr dirty="0"/>
            </a:br>
            <a:r>
              <a:rPr dirty="0"/>
              <a:t>print(df1)</a:t>
            </a:r>
          </a:p>
        </p:txBody>
      </p:sp>
      <p:sp>
        <p:nvSpPr>
          <p:cNvPr id="7" name="TextBox 6" descr="Bulleted slide content: The colon selects all rows; 0:3 selects the first three columns."/>
          <p:cNvSpPr txBox="1"/>
          <p:nvPr/>
        </p:nvSpPr>
        <p:spPr>
          <a:xfrm>
            <a:off x="731520" y="4297680"/>
            <a:ext cx="10698480" cy="731520"/>
          </a:xfrm>
          <a:prstGeom prst="rect">
            <a:avLst/>
          </a:prstGeom>
          <a:noFill/>
        </p:spPr>
        <p:txBody>
          <a:bodyPr wrap="square">
            <a:spAutoFit/>
          </a:bodyPr>
          <a:lstStyle/>
          <a:p>
            <a:pPr>
              <a:spcAft>
                <a:spcPts val="1200"/>
              </a:spcAft>
              <a:defRPr sz="1900">
                <a:solidFill>
                  <a:srgbClr val="1E242B"/>
                </a:solidFill>
                <a:latin typeface="Aptos"/>
              </a:defRPr>
            </a:pPr>
            <a:r>
              <a:t>The colon selects all rows; 0:3 selects the first three columns.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Selecting a Specific Cell"/>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Selecting a Specific Cell</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22</a:t>
            </a:r>
          </a:p>
        </p:txBody>
      </p:sp>
      <p:sp>
        <p:nvSpPr>
          <p:cNvPr id="5" name="TextBox 4" descr="Bulleted slide content: Use row and column positions with iloc to retrieve one value."/>
          <p:cNvSpPr txBox="1"/>
          <p:nvPr/>
        </p:nvSpPr>
        <p:spPr>
          <a:xfrm>
            <a:off x="731520" y="1371600"/>
            <a:ext cx="10698480" cy="640080"/>
          </a:xfrm>
          <a:prstGeom prst="rect">
            <a:avLst/>
          </a:prstGeom>
          <a:noFill/>
        </p:spPr>
        <p:txBody>
          <a:bodyPr wrap="square">
            <a:spAutoFit/>
          </a:bodyPr>
          <a:lstStyle/>
          <a:p>
            <a:pPr>
              <a:spcAft>
                <a:spcPts val="1200"/>
              </a:spcAft>
              <a:defRPr sz="2100">
                <a:solidFill>
                  <a:srgbClr val="1E242B"/>
                </a:solidFill>
                <a:latin typeface="Aptos"/>
              </a:defRPr>
            </a:pPr>
            <a:r>
              <a:t>Use row and column positions with iloc to retrieve one value.</a:t>
            </a:r>
          </a:p>
        </p:txBody>
      </p:sp>
      <p:sp>
        <p:nvSpPr>
          <p:cNvPr id="6" name="Rounded Rectangle 5" descr="Python code example: value = df.iloc[2, 3]; print(&quot;Specific Cell Value:&quot;, value)"/>
          <p:cNvSpPr/>
          <p:nvPr/>
        </p:nvSpPr>
        <p:spPr>
          <a:xfrm>
            <a:off x="777240" y="2194560"/>
            <a:ext cx="10424160" cy="182880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2200">
                <a:solidFill>
                  <a:srgbClr val="1E242B"/>
                </a:solidFill>
                <a:latin typeface="Courier New"/>
              </a:defRPr>
            </a:pPr>
            <a:r>
              <a:rPr dirty="0"/>
              <a:t>value = </a:t>
            </a:r>
            <a:r>
              <a:rPr dirty="0" err="1"/>
              <a:t>df.iloc</a:t>
            </a:r>
            <a:r>
              <a:rPr dirty="0"/>
              <a:t>[2, 3]</a:t>
            </a:r>
            <a:br>
              <a:rPr dirty="0"/>
            </a:br>
            <a:r>
              <a:rPr dirty="0"/>
              <a:t>print("Specific Cell Value:", value)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Filtering with a Boolean Condition"/>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Filtering with a Boolean Condition</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23</a:t>
            </a:r>
          </a:p>
        </p:txBody>
      </p:sp>
      <p:sp>
        <p:nvSpPr>
          <p:cNvPr id="5" name="TextBox 4" descr="Bulleted slide content: Boolean conditions filter rows dynamically based on a rule such as Age &gt; 34."/>
          <p:cNvSpPr txBox="1"/>
          <p:nvPr/>
        </p:nvSpPr>
        <p:spPr>
          <a:xfrm>
            <a:off x="731520" y="1371600"/>
            <a:ext cx="10698480" cy="731520"/>
          </a:xfrm>
          <a:prstGeom prst="rect">
            <a:avLst/>
          </a:prstGeom>
          <a:noFill/>
        </p:spPr>
        <p:txBody>
          <a:bodyPr wrap="square">
            <a:spAutoFit/>
          </a:bodyPr>
          <a:lstStyle/>
          <a:p>
            <a:pPr>
              <a:spcAft>
                <a:spcPts val="1200"/>
              </a:spcAft>
              <a:defRPr sz="2100">
                <a:solidFill>
                  <a:srgbClr val="1E242B"/>
                </a:solidFill>
                <a:latin typeface="Aptos"/>
              </a:defRPr>
            </a:pPr>
            <a:r>
              <a:t>Boolean conditions filter rows dynamically based on a rule such as Age &gt; 34.</a:t>
            </a:r>
          </a:p>
        </p:txBody>
      </p:sp>
      <p:sp>
        <p:nvSpPr>
          <p:cNvPr id="6" name="Rounded Rectangle 5" descr="Python code example: data = df[df['Age'] &gt; 34].iloc[:, :]; print(data)"/>
          <p:cNvSpPr/>
          <p:nvPr/>
        </p:nvSpPr>
        <p:spPr>
          <a:xfrm>
            <a:off x="777240" y="2240280"/>
            <a:ext cx="10424160" cy="182880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2100">
                <a:solidFill>
                  <a:srgbClr val="1E242B"/>
                </a:solidFill>
                <a:latin typeface="Courier New"/>
              </a:defRPr>
            </a:pPr>
            <a:r>
              <a:rPr dirty="0"/>
              <a:t>data = </a:t>
            </a:r>
            <a:r>
              <a:rPr dirty="0" err="1"/>
              <a:t>df</a:t>
            </a:r>
            <a:r>
              <a:rPr dirty="0"/>
              <a:t>[</a:t>
            </a:r>
            <a:r>
              <a:rPr dirty="0" err="1"/>
              <a:t>df</a:t>
            </a:r>
            <a:r>
              <a:rPr dirty="0"/>
              <a:t>['Age'] &gt; 34].</a:t>
            </a:r>
            <a:r>
              <a:rPr dirty="0" err="1"/>
              <a:t>iloc</a:t>
            </a:r>
            <a:r>
              <a:rPr dirty="0"/>
              <a:t>[:, :]</a:t>
            </a:r>
            <a:br>
              <a:rPr dirty="0"/>
            </a:br>
            <a:r>
              <a:rPr dirty="0"/>
              <a:t>print(data)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Combining DataFrames"/>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Combining DataFrames</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24</a:t>
            </a:r>
          </a:p>
        </p:txBody>
      </p:sp>
      <p:sp>
        <p:nvSpPr>
          <p:cNvPr id="5" name="Rounded Rectangle 4" descr="join(). Combine DataFrames using their indexes. Useful when aligned rows should be brought together."/>
          <p:cNvSpPr/>
          <p:nvPr/>
        </p:nvSpPr>
        <p:spPr>
          <a:xfrm>
            <a:off x="731520" y="1463040"/>
            <a:ext cx="5212080" cy="4297680"/>
          </a:xfrm>
          <a:prstGeom prst="roundRect">
            <a:avLst/>
          </a:prstGeom>
          <a:solidFill>
            <a:srgbClr val="FFFFFF"/>
          </a:solidFill>
          <a:ln w="25400">
            <a:solidFill>
              <a:srgbClr val="5C3F8C"/>
            </a:solidFill>
          </a:ln>
        </p:spPr>
        <p:style>
          <a:lnRef idx="1">
            <a:schemeClr val="accent1"/>
          </a:lnRef>
          <a:fillRef idx="3">
            <a:schemeClr val="accent1"/>
          </a:fillRef>
          <a:effectRef idx="2">
            <a:schemeClr val="accent1"/>
          </a:effectRef>
          <a:fontRef idx="minor">
            <a:schemeClr val="lt1"/>
          </a:fontRef>
        </p:style>
        <p:txBody>
          <a:bodyPr lIns="274320" tIns="228600" rtlCol="0" anchor="ctr"/>
          <a:lstStyle/>
          <a:p>
            <a:pPr algn="ctr">
              <a:defRPr sz="2400" b="1">
                <a:solidFill>
                  <a:srgbClr val="5C3F8C"/>
                </a:solidFill>
                <a:latin typeface="Aptos"/>
              </a:defRPr>
            </a:pPr>
            <a:r>
              <a:t>join()</a:t>
            </a:r>
          </a:p>
          <a:p>
            <a:pPr>
              <a:spcBef>
                <a:spcPts val="1400"/>
              </a:spcBef>
              <a:defRPr sz="2000">
                <a:solidFill>
                  <a:srgbClr val="1E242B"/>
                </a:solidFill>
                <a:latin typeface="Aptos"/>
              </a:defRPr>
            </a:pPr>
            <a:r>
              <a:t>Combine DataFrames using their indexes. Useful when aligned rows should be brought together.</a:t>
            </a:r>
          </a:p>
        </p:txBody>
      </p:sp>
      <p:sp>
        <p:nvSpPr>
          <p:cNvPr id="6" name="Rounded Rectangle 5" descr="merge(). Combine DataFrames using shared column values such as an ID."/>
          <p:cNvSpPr/>
          <p:nvPr/>
        </p:nvSpPr>
        <p:spPr>
          <a:xfrm>
            <a:off x="6263640" y="1463040"/>
            <a:ext cx="5212080" cy="4297680"/>
          </a:xfrm>
          <a:prstGeom prst="roundRect">
            <a:avLst/>
          </a:prstGeom>
          <a:solidFill>
            <a:srgbClr val="FFFFFF"/>
          </a:solidFill>
          <a:ln w="25400">
            <a:solidFill>
              <a:srgbClr val="007079"/>
            </a:solidFill>
          </a:ln>
        </p:spPr>
        <p:style>
          <a:lnRef idx="1">
            <a:schemeClr val="accent1"/>
          </a:lnRef>
          <a:fillRef idx="3">
            <a:schemeClr val="accent1"/>
          </a:fillRef>
          <a:effectRef idx="2">
            <a:schemeClr val="accent1"/>
          </a:effectRef>
          <a:fontRef idx="minor">
            <a:schemeClr val="lt1"/>
          </a:fontRef>
        </p:style>
        <p:txBody>
          <a:bodyPr lIns="274320" tIns="228600" rtlCol="0" anchor="ctr"/>
          <a:lstStyle/>
          <a:p>
            <a:pPr algn="ctr">
              <a:defRPr sz="2400" b="1">
                <a:solidFill>
                  <a:srgbClr val="007079"/>
                </a:solidFill>
                <a:latin typeface="Aptos"/>
              </a:defRPr>
            </a:pPr>
            <a:r>
              <a:t>merge()</a:t>
            </a:r>
          </a:p>
          <a:p>
            <a:pPr>
              <a:spcBef>
                <a:spcPts val="1400"/>
              </a:spcBef>
              <a:defRPr sz="2000">
                <a:solidFill>
                  <a:srgbClr val="1E242B"/>
                </a:solidFill>
                <a:latin typeface="Aptos"/>
              </a:defRPr>
            </a:pPr>
            <a:r>
              <a:t>Combine DataFrames using shared column values such as an ID.</a:t>
            </a:r>
          </a:p>
        </p:txBody>
      </p:sp>
      <p:sp>
        <p:nvSpPr>
          <p:cNvPr id="7" name="TextBox 6" descr="Bulleted slide content: Pandas also provides concat() for combining objects along an axis."/>
          <p:cNvSpPr txBox="1"/>
          <p:nvPr/>
        </p:nvSpPr>
        <p:spPr>
          <a:xfrm>
            <a:off x="731520" y="5806440"/>
            <a:ext cx="10698480" cy="457200"/>
          </a:xfrm>
          <a:prstGeom prst="rect">
            <a:avLst/>
          </a:prstGeom>
          <a:noFill/>
        </p:spPr>
        <p:txBody>
          <a:bodyPr wrap="square">
            <a:spAutoFit/>
          </a:bodyPr>
          <a:lstStyle/>
          <a:p>
            <a:pPr>
              <a:spcAft>
                <a:spcPts val="1200"/>
              </a:spcAft>
              <a:defRPr sz="1700">
                <a:solidFill>
                  <a:srgbClr val="1E242B"/>
                </a:solidFill>
                <a:latin typeface="Aptos"/>
              </a:defRPr>
            </a:pPr>
            <a:r>
              <a:t>Pandas also provides concat() for combining objects along an axis.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Joining DataFrames"/>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Joining DataFrames</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25</a:t>
            </a:r>
          </a:p>
        </p:txBody>
      </p:sp>
      <p:sp>
        <p:nvSpPr>
          <p:cNvPr id="5" name="Rounded Rectangle 4" descr="Python code example: data1 = {&quot;name&quot;: [&quot;Uma&quot;, &quot;Nova&quot;, &quot;Bella&quot;], &quot;age&quot;: [40, 50, 20]}; data2 = {&quot;Education&quot;: [&quot;Ph.D&quot;, &quot;M.S&quot;, &quot;B.S&quot;]}; ; df1 = pd.DataFrame(data1); df2 = pd.DataFrame(data2); newdf = df1.join(df2)"/>
          <p:cNvSpPr/>
          <p:nvPr/>
        </p:nvSpPr>
        <p:spPr>
          <a:xfrm>
            <a:off x="777240" y="1508760"/>
            <a:ext cx="10424160" cy="365760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1800">
                <a:solidFill>
                  <a:srgbClr val="1E242B"/>
                </a:solidFill>
                <a:latin typeface="Courier New"/>
              </a:defRPr>
            </a:pPr>
            <a:r>
              <a:rPr dirty="0"/>
              <a:t>data1 = {"name": ["Uma", "Nova", "Bella"], "age": [40, 50, 20]}</a:t>
            </a:r>
            <a:br>
              <a:rPr dirty="0"/>
            </a:br>
            <a:r>
              <a:rPr dirty="0"/>
              <a:t>data2 = {"Education": ["</a:t>
            </a:r>
            <a:r>
              <a:rPr dirty="0" err="1"/>
              <a:t>Ph.D</a:t>
            </a:r>
            <a:r>
              <a:rPr dirty="0"/>
              <a:t>", "M.S", "B.S"]}</a:t>
            </a:r>
            <a:br>
              <a:rPr dirty="0"/>
            </a:br>
            <a:br>
              <a:rPr dirty="0"/>
            </a:br>
            <a:r>
              <a:rPr dirty="0"/>
              <a:t>df1 = </a:t>
            </a:r>
            <a:r>
              <a:rPr dirty="0" err="1"/>
              <a:t>pd.DataFrame</a:t>
            </a:r>
            <a:r>
              <a:rPr dirty="0"/>
              <a:t>(data1)</a:t>
            </a:r>
            <a:br>
              <a:rPr dirty="0"/>
            </a:br>
            <a:r>
              <a:rPr dirty="0"/>
              <a:t>df2 = </a:t>
            </a:r>
            <a:r>
              <a:rPr dirty="0" err="1"/>
              <a:t>pd.DataFrame</a:t>
            </a:r>
            <a:r>
              <a:rPr dirty="0"/>
              <a:t>(data2)</a:t>
            </a:r>
            <a:br>
              <a:rPr dirty="0"/>
            </a:br>
            <a:r>
              <a:rPr dirty="0" err="1"/>
              <a:t>newdf</a:t>
            </a:r>
            <a:r>
              <a:rPr dirty="0"/>
              <a:t> = df1.join(df2)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Merging DataFrames"/>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Merging DataFrames</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26</a:t>
            </a:r>
          </a:p>
        </p:txBody>
      </p:sp>
      <p:sp>
        <p:nvSpPr>
          <p:cNvPr id="5" name="Rounded Rectangle 4" descr="Python code example: employees = pd.DataFrame({;  'EmployeeID': ['E001','E002','E003','E004','E005'],;  'Name': ['Kelly','Cat','Mat','Jhon','Sam'],;  'DeptID': ['D900','D800','D900','D700','D800']}); ; departments = pd.DataFrame({;  'DeptID': ['D900','D700','D800'],;  'DeptName': ['Computer','Accounts','HR']}); ; merged_df = pd.merge(employees, departments)"/>
          <p:cNvSpPr/>
          <p:nvPr/>
        </p:nvSpPr>
        <p:spPr>
          <a:xfrm>
            <a:off x="777240" y="1280160"/>
            <a:ext cx="10424160" cy="4663440"/>
          </a:xfrm>
          <a:prstGeom prst="roundRect">
            <a:avLst/>
          </a:prstGeom>
          <a:solidFill>
            <a:srgbClr val="ECEFF2"/>
          </a:solidFill>
          <a:ln>
            <a:solidFill>
              <a:srgbClr val="BEC3C8"/>
            </a:solidFill>
          </a:ln>
        </p:spPr>
        <p:style>
          <a:lnRef idx="1">
            <a:schemeClr val="accent1"/>
          </a:lnRef>
          <a:fillRef idx="3">
            <a:schemeClr val="accent1"/>
          </a:fillRef>
          <a:effectRef idx="2">
            <a:schemeClr val="accent1"/>
          </a:effectRef>
          <a:fontRef idx="minor">
            <a:schemeClr val="lt1"/>
          </a:fontRef>
        </p:style>
        <p:txBody>
          <a:bodyPr lIns="228600" tIns="164592" rIns="228600" rtlCol="0" anchor="ctr"/>
          <a:lstStyle/>
          <a:p>
            <a:pPr>
              <a:defRPr sz="1400">
                <a:solidFill>
                  <a:srgbClr val="1E242B"/>
                </a:solidFill>
                <a:latin typeface="Courier New"/>
              </a:defRPr>
            </a:pPr>
            <a:r>
              <a:rPr dirty="0"/>
              <a:t>employees = </a:t>
            </a:r>
            <a:r>
              <a:rPr dirty="0" err="1"/>
              <a:t>pd.DataFrame</a:t>
            </a:r>
            <a:r>
              <a:rPr dirty="0"/>
              <a:t>({</a:t>
            </a:r>
            <a:br>
              <a:rPr dirty="0"/>
            </a:br>
            <a:r>
              <a:rPr dirty="0"/>
              <a:t> '</a:t>
            </a:r>
            <a:r>
              <a:rPr dirty="0" err="1"/>
              <a:t>EmployeeID</a:t>
            </a:r>
            <a:r>
              <a:rPr dirty="0"/>
              <a:t>': ['E001','E002','E003','E004','E005'],</a:t>
            </a:r>
            <a:br>
              <a:rPr dirty="0"/>
            </a:br>
            <a:r>
              <a:rPr dirty="0"/>
              <a:t> 'Name': ['</a:t>
            </a:r>
            <a:r>
              <a:rPr dirty="0" err="1"/>
              <a:t>Kelly','Cat','Mat','Jhon','Sam</a:t>
            </a:r>
            <a:r>
              <a:rPr dirty="0"/>
              <a:t>'],</a:t>
            </a:r>
            <a:br>
              <a:rPr dirty="0"/>
            </a:br>
            <a:r>
              <a:rPr dirty="0"/>
              <a:t> '</a:t>
            </a:r>
            <a:r>
              <a:rPr dirty="0" err="1"/>
              <a:t>DeptID</a:t>
            </a:r>
            <a:r>
              <a:rPr dirty="0"/>
              <a:t>': ['D900','D800','D900','D700','D800']})</a:t>
            </a:r>
            <a:br>
              <a:rPr dirty="0"/>
            </a:br>
            <a:br>
              <a:rPr dirty="0"/>
            </a:br>
            <a:r>
              <a:rPr dirty="0"/>
              <a:t>departments = </a:t>
            </a:r>
            <a:r>
              <a:rPr dirty="0" err="1"/>
              <a:t>pd.DataFrame</a:t>
            </a:r>
            <a:r>
              <a:rPr dirty="0"/>
              <a:t>({</a:t>
            </a:r>
            <a:br>
              <a:rPr dirty="0"/>
            </a:br>
            <a:r>
              <a:rPr dirty="0"/>
              <a:t> '</a:t>
            </a:r>
            <a:r>
              <a:rPr dirty="0" err="1"/>
              <a:t>DeptID</a:t>
            </a:r>
            <a:r>
              <a:rPr dirty="0"/>
              <a:t>': ['D900','D700','D800'],</a:t>
            </a:r>
            <a:br>
              <a:rPr dirty="0"/>
            </a:br>
            <a:r>
              <a:rPr dirty="0"/>
              <a:t> '</a:t>
            </a:r>
            <a:r>
              <a:rPr dirty="0" err="1"/>
              <a:t>DeptName</a:t>
            </a:r>
            <a:r>
              <a:rPr dirty="0"/>
              <a:t>': ['</a:t>
            </a:r>
            <a:r>
              <a:rPr dirty="0" err="1"/>
              <a:t>Computer','Accounts','HR</a:t>
            </a:r>
            <a:r>
              <a:rPr dirty="0"/>
              <a:t>']})</a:t>
            </a:r>
            <a:br>
              <a:rPr dirty="0"/>
            </a:br>
            <a:br>
              <a:rPr dirty="0"/>
            </a:br>
            <a:r>
              <a:rPr dirty="0" err="1"/>
              <a:t>merged_df</a:t>
            </a:r>
            <a:r>
              <a:rPr dirty="0"/>
              <a:t> = </a:t>
            </a:r>
            <a:r>
              <a:rPr dirty="0" err="1"/>
              <a:t>pd.merge</a:t>
            </a:r>
            <a:r>
              <a:rPr dirty="0"/>
              <a:t>(employees, departments)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Pandas Workflow: From Raw Data to Analysis"/>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Pandas Workflow: From Raw Data to Analysis</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27</a:t>
            </a:r>
          </a:p>
        </p:txBody>
      </p:sp>
      <p:sp>
        <p:nvSpPr>
          <p:cNvPr id="5" name="Rounded Rectangle 4" descr="Workflow step 1. Read"/>
          <p:cNvSpPr/>
          <p:nvPr/>
        </p:nvSpPr>
        <p:spPr>
          <a:xfrm>
            <a:off x="548640" y="2377440"/>
            <a:ext cx="1600200" cy="1143000"/>
          </a:xfrm>
          <a:prstGeom prst="roundRect">
            <a:avLst/>
          </a:prstGeom>
          <a:solidFill>
            <a:srgbClr val="FFFFFF"/>
          </a:solidFill>
          <a:ln w="25400">
            <a:solidFill>
              <a:srgbClr val="0070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C3143"/>
                </a:solidFill>
                <a:latin typeface="Aptos"/>
              </a:defRPr>
            </a:pPr>
            <a:r>
              <a:t>1. Read</a:t>
            </a:r>
          </a:p>
        </p:txBody>
      </p:sp>
      <p:sp>
        <p:nvSpPr>
          <p:cNvPr id="6" name="Rounded Rectangle 5" descr="Workflow step 2. Inspect"/>
          <p:cNvSpPr/>
          <p:nvPr/>
        </p:nvSpPr>
        <p:spPr>
          <a:xfrm>
            <a:off x="2468880" y="2377440"/>
            <a:ext cx="1600200" cy="1143000"/>
          </a:xfrm>
          <a:prstGeom prst="roundRect">
            <a:avLst/>
          </a:prstGeom>
          <a:solidFill>
            <a:srgbClr val="FFFFFF"/>
          </a:solidFill>
          <a:ln w="25400">
            <a:solidFill>
              <a:srgbClr val="0070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C3143"/>
                </a:solidFill>
                <a:latin typeface="Aptos"/>
              </a:defRPr>
            </a:pPr>
            <a:r>
              <a:t>2. Inspect</a:t>
            </a:r>
          </a:p>
        </p:txBody>
      </p:sp>
      <p:sp>
        <p:nvSpPr>
          <p:cNvPr id="7" name="Rounded Rectangle 6" descr="Workflow step 3. Clean"/>
          <p:cNvSpPr/>
          <p:nvPr/>
        </p:nvSpPr>
        <p:spPr>
          <a:xfrm>
            <a:off x="4389120" y="2377440"/>
            <a:ext cx="1600200" cy="1143000"/>
          </a:xfrm>
          <a:prstGeom prst="roundRect">
            <a:avLst/>
          </a:prstGeom>
          <a:solidFill>
            <a:srgbClr val="FFFFFF"/>
          </a:solidFill>
          <a:ln w="25400">
            <a:solidFill>
              <a:srgbClr val="0070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C3143"/>
                </a:solidFill>
                <a:latin typeface="Aptos"/>
              </a:defRPr>
            </a:pPr>
            <a:r>
              <a:t>3. Clean</a:t>
            </a:r>
          </a:p>
        </p:txBody>
      </p:sp>
      <p:sp>
        <p:nvSpPr>
          <p:cNvPr id="8" name="Rounded Rectangle 7" descr="Workflow step 4. Select / Filter"/>
          <p:cNvSpPr/>
          <p:nvPr/>
        </p:nvSpPr>
        <p:spPr>
          <a:xfrm>
            <a:off x="6309360" y="2377440"/>
            <a:ext cx="1600200" cy="1143000"/>
          </a:xfrm>
          <a:prstGeom prst="roundRect">
            <a:avLst/>
          </a:prstGeom>
          <a:solidFill>
            <a:srgbClr val="FFFFFF"/>
          </a:solidFill>
          <a:ln w="25400">
            <a:solidFill>
              <a:srgbClr val="0070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C3143"/>
                </a:solidFill>
                <a:latin typeface="Aptos"/>
              </a:defRPr>
            </a:pPr>
            <a:r>
              <a:t>4. Select / Filter</a:t>
            </a:r>
          </a:p>
        </p:txBody>
      </p:sp>
      <p:sp>
        <p:nvSpPr>
          <p:cNvPr id="9" name="Rounded Rectangle 8" descr="Workflow step 5. Combine"/>
          <p:cNvSpPr/>
          <p:nvPr/>
        </p:nvSpPr>
        <p:spPr>
          <a:xfrm>
            <a:off x="8229600" y="2377440"/>
            <a:ext cx="1600200" cy="1143000"/>
          </a:xfrm>
          <a:prstGeom prst="roundRect">
            <a:avLst/>
          </a:prstGeom>
          <a:solidFill>
            <a:srgbClr val="FFFFFF"/>
          </a:solidFill>
          <a:ln w="25400">
            <a:solidFill>
              <a:srgbClr val="0070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C3143"/>
                </a:solidFill>
                <a:latin typeface="Aptos"/>
              </a:defRPr>
            </a:pPr>
            <a:r>
              <a:t>5. Combine</a:t>
            </a:r>
          </a:p>
        </p:txBody>
      </p:sp>
      <p:sp>
        <p:nvSpPr>
          <p:cNvPr id="10" name="Rounded Rectangle 9" descr="Workflow step 6. Export"/>
          <p:cNvSpPr/>
          <p:nvPr/>
        </p:nvSpPr>
        <p:spPr>
          <a:xfrm>
            <a:off x="10149840" y="2377440"/>
            <a:ext cx="1600200" cy="1143000"/>
          </a:xfrm>
          <a:prstGeom prst="roundRect">
            <a:avLst/>
          </a:prstGeom>
          <a:solidFill>
            <a:srgbClr val="FFFFFF"/>
          </a:solidFill>
          <a:ln w="25400">
            <a:solidFill>
              <a:srgbClr val="00707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0C3143"/>
                </a:solidFill>
                <a:latin typeface="Aptos"/>
              </a:defRPr>
            </a:pPr>
            <a:r>
              <a:t>6. Export</a:t>
            </a:r>
          </a:p>
        </p:txBody>
      </p:sp>
      <p:sp>
        <p:nvSpPr>
          <p:cNvPr id="11" name="TextBox 10" descr="Bulleted slide content: A typical Pandas task moves from loading data to understanding it, cleaning it, selecting useful information, combining sources, and saving results."/>
          <p:cNvSpPr txBox="1"/>
          <p:nvPr/>
        </p:nvSpPr>
        <p:spPr>
          <a:xfrm>
            <a:off x="731520" y="4160520"/>
            <a:ext cx="10698480" cy="1097280"/>
          </a:xfrm>
          <a:prstGeom prst="rect">
            <a:avLst/>
          </a:prstGeom>
          <a:noFill/>
        </p:spPr>
        <p:txBody>
          <a:bodyPr wrap="square">
            <a:spAutoFit/>
          </a:bodyPr>
          <a:lstStyle/>
          <a:p>
            <a:pPr>
              <a:spcAft>
                <a:spcPts val="1200"/>
              </a:spcAft>
              <a:defRPr sz="2000">
                <a:solidFill>
                  <a:srgbClr val="1E242B"/>
                </a:solidFill>
                <a:latin typeface="Aptos"/>
              </a:defRPr>
            </a:pPr>
            <a:r>
              <a:t>A typical Pandas task moves from loading data to understanding it, cleaning it, selecting useful information, combining sources, and saving results.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In-Class Exercise 1: Build and Inspect a DataFrame"/>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In-Class Exercise 1: Build and Inspect a DataFrame</a:t>
            </a:r>
          </a:p>
        </p:txBody>
      </p:sp>
      <p:sp>
        <p:nvSpPr>
          <p:cNvPr id="4" name="TextBox 3" descr="Subtitle: Work individually for 8–10 minutes."/>
          <p:cNvSpPr txBox="1"/>
          <p:nvPr/>
        </p:nvSpPr>
        <p:spPr>
          <a:xfrm>
            <a:off x="621792" y="932688"/>
            <a:ext cx="10789920" cy="411480"/>
          </a:xfrm>
          <a:prstGeom prst="rect">
            <a:avLst/>
          </a:prstGeom>
          <a:noFill/>
        </p:spPr>
        <p:txBody>
          <a:bodyPr wrap="none">
            <a:spAutoFit/>
          </a:bodyPr>
          <a:lstStyle/>
          <a:p>
            <a:pPr>
              <a:defRPr sz="1400">
                <a:solidFill>
                  <a:srgbClr val="5C656E"/>
                </a:solidFill>
                <a:latin typeface="Aptos"/>
              </a:defRPr>
            </a:pPr>
            <a:r>
              <a:t>Work individually for 8–10 minutes.</a:t>
            </a:r>
          </a:p>
        </p:txBody>
      </p:sp>
      <p:sp>
        <p:nvSpPr>
          <p:cNvPr id="5" name="TextBox 4"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28</a:t>
            </a:r>
          </a:p>
        </p:txBody>
      </p:sp>
      <p:sp>
        <p:nvSpPr>
          <p:cNvPr id="6" name="TextBox 5" descr="Bulleted slide content: Create a DataFrame with columns: Student, Quiz1, Quiz2, and Attendance. Add at least five student records. Display the first three rows. Use info() to inspect the DataFrame. Select only the Student and Quiz1 columns. Challenge: filter students whose Quiz1 score is greater than 80."/>
          <p:cNvSpPr txBox="1"/>
          <p:nvPr/>
        </p:nvSpPr>
        <p:spPr>
          <a:xfrm>
            <a:off x="731520" y="1325880"/>
            <a:ext cx="10698480" cy="4754880"/>
          </a:xfrm>
          <a:prstGeom prst="rect">
            <a:avLst/>
          </a:prstGeom>
          <a:noFill/>
        </p:spPr>
        <p:txBody>
          <a:bodyPr wrap="square">
            <a:spAutoFit/>
          </a:bodyPr>
          <a:lstStyle/>
          <a:p>
            <a:pPr>
              <a:spcAft>
                <a:spcPts val="1200"/>
              </a:spcAft>
              <a:defRPr sz="2000">
                <a:solidFill>
                  <a:srgbClr val="1E242B"/>
                </a:solidFill>
                <a:latin typeface="Aptos"/>
              </a:defRPr>
            </a:pPr>
            <a:r>
              <a:t>Create a DataFrame with columns: Student, Quiz1, Quiz2, and Attendance.</a:t>
            </a:r>
          </a:p>
          <a:p>
            <a:pPr>
              <a:spcAft>
                <a:spcPts val="1200"/>
              </a:spcAft>
              <a:defRPr sz="2000">
                <a:solidFill>
                  <a:srgbClr val="1E242B"/>
                </a:solidFill>
                <a:latin typeface="Aptos"/>
              </a:defRPr>
            </a:pPr>
            <a:r>
              <a:t>Add at least five student records.</a:t>
            </a:r>
          </a:p>
          <a:p>
            <a:pPr>
              <a:spcAft>
                <a:spcPts val="1200"/>
              </a:spcAft>
              <a:defRPr sz="2000">
                <a:solidFill>
                  <a:srgbClr val="1E242B"/>
                </a:solidFill>
                <a:latin typeface="Aptos"/>
              </a:defRPr>
            </a:pPr>
            <a:r>
              <a:t>Display the first three rows.</a:t>
            </a:r>
          </a:p>
          <a:p>
            <a:pPr>
              <a:spcAft>
                <a:spcPts val="1200"/>
              </a:spcAft>
              <a:defRPr sz="2000">
                <a:solidFill>
                  <a:srgbClr val="1E242B"/>
                </a:solidFill>
                <a:latin typeface="Aptos"/>
              </a:defRPr>
            </a:pPr>
            <a:r>
              <a:t>Use info() to inspect the DataFrame.</a:t>
            </a:r>
          </a:p>
          <a:p>
            <a:pPr>
              <a:spcAft>
                <a:spcPts val="1200"/>
              </a:spcAft>
              <a:defRPr sz="2000">
                <a:solidFill>
                  <a:srgbClr val="1E242B"/>
                </a:solidFill>
                <a:latin typeface="Aptos"/>
              </a:defRPr>
            </a:pPr>
            <a:r>
              <a:t>Select only the Student and Quiz1 columns.</a:t>
            </a:r>
          </a:p>
          <a:p>
            <a:pPr>
              <a:spcAft>
                <a:spcPts val="1200"/>
              </a:spcAft>
              <a:defRPr sz="2000">
                <a:solidFill>
                  <a:srgbClr val="1E242B"/>
                </a:solidFill>
                <a:latin typeface="Aptos"/>
              </a:defRPr>
            </a:pPr>
            <a:r>
              <a:t>Challenge: filter students whose Quiz1 score is greater than 80.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In-Class Exercise 2: Clean Missing Data"/>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In-Class Exercise 2: Clean Missing Data</a:t>
            </a:r>
          </a:p>
        </p:txBody>
      </p:sp>
      <p:sp>
        <p:nvSpPr>
          <p:cNvPr id="4" name="TextBox 3" descr="Subtitle: Work in pairs for 10 minutes."/>
          <p:cNvSpPr txBox="1"/>
          <p:nvPr/>
        </p:nvSpPr>
        <p:spPr>
          <a:xfrm>
            <a:off x="621792" y="932688"/>
            <a:ext cx="10789920" cy="411480"/>
          </a:xfrm>
          <a:prstGeom prst="rect">
            <a:avLst/>
          </a:prstGeom>
          <a:noFill/>
        </p:spPr>
        <p:txBody>
          <a:bodyPr wrap="none">
            <a:spAutoFit/>
          </a:bodyPr>
          <a:lstStyle/>
          <a:p>
            <a:pPr>
              <a:defRPr sz="1400">
                <a:solidFill>
                  <a:srgbClr val="5C656E"/>
                </a:solidFill>
                <a:latin typeface="Aptos"/>
              </a:defRPr>
            </a:pPr>
            <a:r>
              <a:t>Work in pairs for 10 minutes.</a:t>
            </a:r>
          </a:p>
        </p:txBody>
      </p:sp>
      <p:sp>
        <p:nvSpPr>
          <p:cNvPr id="5" name="TextBox 4"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29</a:t>
            </a:r>
          </a:p>
        </p:txBody>
      </p:sp>
      <p:sp>
        <p:nvSpPr>
          <p:cNvPr id="6" name="TextBox 5" descr="Bulleted slide content: Create a small DataFrame that contains at least two missing values. Make one cleaned copy using dropna(). Make another cleaned copy using fillna() with an appropriate replacement value. Compare the number of rows before and after cleaning. Discuss: when might dropping a row be better than filling a value, and when might filling be better?"/>
          <p:cNvSpPr txBox="1"/>
          <p:nvPr/>
        </p:nvSpPr>
        <p:spPr>
          <a:xfrm>
            <a:off x="731520" y="1325880"/>
            <a:ext cx="10698480" cy="4754880"/>
          </a:xfrm>
          <a:prstGeom prst="rect">
            <a:avLst/>
          </a:prstGeom>
          <a:noFill/>
        </p:spPr>
        <p:txBody>
          <a:bodyPr wrap="square">
            <a:spAutoFit/>
          </a:bodyPr>
          <a:lstStyle/>
          <a:p>
            <a:pPr>
              <a:spcAft>
                <a:spcPts val="1200"/>
              </a:spcAft>
              <a:defRPr sz="2000">
                <a:solidFill>
                  <a:srgbClr val="1E242B"/>
                </a:solidFill>
                <a:latin typeface="Aptos"/>
              </a:defRPr>
            </a:pPr>
            <a:r>
              <a:t>Create a small DataFrame that contains at least two missing values.</a:t>
            </a:r>
          </a:p>
          <a:p>
            <a:pPr>
              <a:spcAft>
                <a:spcPts val="1200"/>
              </a:spcAft>
              <a:defRPr sz="2000">
                <a:solidFill>
                  <a:srgbClr val="1E242B"/>
                </a:solidFill>
                <a:latin typeface="Aptos"/>
              </a:defRPr>
            </a:pPr>
            <a:r>
              <a:t>Make one cleaned copy using dropna().</a:t>
            </a:r>
          </a:p>
          <a:p>
            <a:pPr>
              <a:spcAft>
                <a:spcPts val="1200"/>
              </a:spcAft>
              <a:defRPr sz="2000">
                <a:solidFill>
                  <a:srgbClr val="1E242B"/>
                </a:solidFill>
                <a:latin typeface="Aptos"/>
              </a:defRPr>
            </a:pPr>
            <a:r>
              <a:t>Make another cleaned copy using fillna() with an appropriate replacement value.</a:t>
            </a:r>
          </a:p>
          <a:p>
            <a:pPr>
              <a:spcAft>
                <a:spcPts val="1200"/>
              </a:spcAft>
              <a:defRPr sz="2000">
                <a:solidFill>
                  <a:srgbClr val="1E242B"/>
                </a:solidFill>
                <a:latin typeface="Aptos"/>
              </a:defRPr>
            </a:pPr>
            <a:r>
              <a:t>Compare the number of rows before and after cleaning.</a:t>
            </a:r>
          </a:p>
          <a:p>
            <a:pPr>
              <a:spcAft>
                <a:spcPts val="1200"/>
              </a:spcAft>
              <a:defRPr sz="2000">
                <a:solidFill>
                  <a:srgbClr val="1E242B"/>
                </a:solidFill>
                <a:latin typeface="Aptos"/>
              </a:defRPr>
            </a:pPr>
            <a:r>
              <a:t>Discuss: when might dropping a row be better than filling a value, and when might filling be better?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In-Class Exercise 3: Slice, Filter, and Combine"/>
          <p:cNvSpPr txBox="1"/>
          <p:nvPr/>
        </p:nvSpPr>
        <p:spPr>
          <a:xfrm>
            <a:off x="594360" y="320040"/>
            <a:ext cx="10972800" cy="640080"/>
          </a:xfrm>
          <a:prstGeom prst="rect">
            <a:avLst/>
          </a:prstGeom>
          <a:noFill/>
        </p:spPr>
        <p:txBody>
          <a:bodyPr wrap="none">
            <a:spAutoFit/>
          </a:bodyPr>
          <a:lstStyle/>
          <a:p>
            <a:pPr>
              <a:defRPr sz="2800" b="1">
                <a:solidFill>
                  <a:srgbClr val="0C3143"/>
                </a:solidFill>
                <a:latin typeface="Aptos Display"/>
              </a:defRPr>
            </a:pPr>
            <a:r>
              <a:t>In-Class Exercise 3: Slice, Filter, and Combine</a:t>
            </a:r>
          </a:p>
        </p:txBody>
      </p:sp>
      <p:sp>
        <p:nvSpPr>
          <p:cNvPr id="4" name="TextBox 3" descr="Subtitle: Work in pairs for 12–15 minutes."/>
          <p:cNvSpPr txBox="1"/>
          <p:nvPr/>
        </p:nvSpPr>
        <p:spPr>
          <a:xfrm>
            <a:off x="621792" y="932688"/>
            <a:ext cx="10789920" cy="411480"/>
          </a:xfrm>
          <a:prstGeom prst="rect">
            <a:avLst/>
          </a:prstGeom>
          <a:noFill/>
        </p:spPr>
        <p:txBody>
          <a:bodyPr wrap="none">
            <a:spAutoFit/>
          </a:bodyPr>
          <a:lstStyle/>
          <a:p>
            <a:pPr>
              <a:defRPr sz="1400">
                <a:solidFill>
                  <a:srgbClr val="5C656E"/>
                </a:solidFill>
                <a:latin typeface="Aptos"/>
              </a:defRPr>
            </a:pPr>
            <a:r>
              <a:t>Work in pairs for 12–15 minutes.</a:t>
            </a:r>
          </a:p>
        </p:txBody>
      </p:sp>
      <p:sp>
        <p:nvSpPr>
          <p:cNvPr id="5" name="TextBox 4"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30</a:t>
            </a:r>
          </a:p>
        </p:txBody>
      </p:sp>
      <p:sp>
        <p:nvSpPr>
          <p:cNvPr id="6" name="TextBox 5" descr="Bulleted slide content: Using the player DataFrame, select the first four rows with iloc. Select only Name, Age, and Salary. Retrieve one specific salary using iloc[row, column]. Filter players whose Age is greater than 34. Create a second DataFrame containing Name and Team, then join or merge it with the player data. Extension: export your final result to a CSV file with index=False."/>
          <p:cNvSpPr txBox="1"/>
          <p:nvPr/>
        </p:nvSpPr>
        <p:spPr>
          <a:xfrm>
            <a:off x="731520" y="1325880"/>
            <a:ext cx="10698480" cy="4754880"/>
          </a:xfrm>
          <a:prstGeom prst="rect">
            <a:avLst/>
          </a:prstGeom>
          <a:noFill/>
        </p:spPr>
        <p:txBody>
          <a:bodyPr wrap="square">
            <a:spAutoFit/>
          </a:bodyPr>
          <a:lstStyle/>
          <a:p>
            <a:pPr>
              <a:spcAft>
                <a:spcPts val="1200"/>
              </a:spcAft>
              <a:defRPr sz="1900">
                <a:solidFill>
                  <a:srgbClr val="1E242B"/>
                </a:solidFill>
                <a:latin typeface="Aptos"/>
              </a:defRPr>
            </a:pPr>
            <a:r>
              <a:t>Using the player DataFrame, select the first four rows with iloc.</a:t>
            </a:r>
          </a:p>
          <a:p>
            <a:pPr>
              <a:spcAft>
                <a:spcPts val="1200"/>
              </a:spcAft>
              <a:defRPr sz="1900">
                <a:solidFill>
                  <a:srgbClr val="1E242B"/>
                </a:solidFill>
                <a:latin typeface="Aptos"/>
              </a:defRPr>
            </a:pPr>
            <a:r>
              <a:t>Select only Name, Age, and Salary.</a:t>
            </a:r>
          </a:p>
          <a:p>
            <a:pPr>
              <a:spcAft>
                <a:spcPts val="1200"/>
              </a:spcAft>
              <a:defRPr sz="1900">
                <a:solidFill>
                  <a:srgbClr val="1E242B"/>
                </a:solidFill>
                <a:latin typeface="Aptos"/>
              </a:defRPr>
            </a:pPr>
            <a:r>
              <a:t>Retrieve one specific salary using iloc[row, column].</a:t>
            </a:r>
          </a:p>
          <a:p>
            <a:pPr>
              <a:spcAft>
                <a:spcPts val="1200"/>
              </a:spcAft>
              <a:defRPr sz="1900">
                <a:solidFill>
                  <a:srgbClr val="1E242B"/>
                </a:solidFill>
                <a:latin typeface="Aptos"/>
              </a:defRPr>
            </a:pPr>
            <a:r>
              <a:t>Filter players whose Age is greater than 34.</a:t>
            </a:r>
          </a:p>
          <a:p>
            <a:pPr>
              <a:spcAft>
                <a:spcPts val="1200"/>
              </a:spcAft>
              <a:defRPr sz="1900">
                <a:solidFill>
                  <a:srgbClr val="1E242B"/>
                </a:solidFill>
                <a:latin typeface="Aptos"/>
              </a:defRPr>
            </a:pPr>
            <a:r>
              <a:t>Create a second DataFrame containing Name and Team, then join or merge it with the player data.</a:t>
            </a:r>
          </a:p>
          <a:p>
            <a:pPr>
              <a:spcAft>
                <a:spcPts val="1200"/>
              </a:spcAft>
              <a:defRPr sz="1900">
                <a:solidFill>
                  <a:srgbClr val="1E242B"/>
                </a:solidFill>
                <a:latin typeface="Aptos"/>
              </a:defRPr>
            </a:pPr>
            <a:r>
              <a:t>Extension: export your final result to a CSV file with index=False.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descr="Decorative background."/>
          <p:cNvSpPr/>
          <p:nvPr/>
        </p:nvSpPr>
        <p:spPr>
          <a:xfrm>
            <a:off x="0" y="0"/>
            <a:ext cx="12191695"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descr="Slide title: Exit Ticket: Check Your Understanding"/>
          <p:cNvSpPr txBox="1"/>
          <p:nvPr/>
        </p:nvSpPr>
        <p:spPr>
          <a:xfrm>
            <a:off x="594360" y="320040"/>
            <a:ext cx="4386137" cy="523220"/>
          </a:xfrm>
          <a:prstGeom prst="rect">
            <a:avLst/>
          </a:prstGeom>
          <a:noFill/>
        </p:spPr>
        <p:txBody>
          <a:bodyPr wrap="none">
            <a:spAutoFit/>
          </a:bodyPr>
          <a:lstStyle/>
          <a:p>
            <a:pPr>
              <a:defRPr sz="2800" b="1">
                <a:solidFill>
                  <a:srgbClr val="0C3143"/>
                </a:solidFill>
                <a:latin typeface="Aptos Display"/>
              </a:defRPr>
            </a:pPr>
            <a:r>
              <a:rPr dirty="0"/>
              <a:t> Check Your Understanding</a:t>
            </a:r>
          </a:p>
        </p:txBody>
      </p:sp>
      <p:sp>
        <p:nvSpPr>
          <p:cNvPr id="4" name="TextBox 3" descr="Footer with course, topic, instructor, and slide number."/>
          <p:cNvSpPr txBox="1"/>
          <p:nvPr/>
        </p:nvSpPr>
        <p:spPr>
          <a:xfrm>
            <a:off x="594360" y="6446520"/>
            <a:ext cx="10972800" cy="228600"/>
          </a:xfrm>
          <a:prstGeom prst="rect">
            <a:avLst/>
          </a:prstGeom>
          <a:noFill/>
        </p:spPr>
        <p:txBody>
          <a:bodyPr wrap="none">
            <a:spAutoFit/>
          </a:bodyPr>
          <a:lstStyle/>
          <a:p>
            <a:pPr>
              <a:defRPr sz="900">
                <a:solidFill>
                  <a:srgbClr val="5C656E"/>
                </a:solidFill>
                <a:latin typeface="Aptos"/>
              </a:defRPr>
            </a:pPr>
            <a:r>
              <a:t>AI 240 • Pandas • Dr. Uma Gajendragadkar   |   31</a:t>
            </a:r>
          </a:p>
        </p:txBody>
      </p:sp>
      <p:sp>
        <p:nvSpPr>
          <p:cNvPr id="5" name="TextBox 4" descr="Bulleted slide content: What is the difference between a Series and a DataFrame? Which function would you use to read a CSV file? What does df.iloc[:, 0:3] select? Name two approaches for handling missing values. When would you use merge() instead of simply slicing a DataFrame?"/>
          <p:cNvSpPr txBox="1"/>
          <p:nvPr/>
        </p:nvSpPr>
        <p:spPr>
          <a:xfrm>
            <a:off x="731520" y="1325880"/>
            <a:ext cx="10698480" cy="4754880"/>
          </a:xfrm>
          <a:prstGeom prst="rect">
            <a:avLst/>
          </a:prstGeom>
          <a:noFill/>
        </p:spPr>
        <p:txBody>
          <a:bodyPr wrap="square">
            <a:spAutoFit/>
          </a:bodyPr>
          <a:lstStyle/>
          <a:p>
            <a:pPr>
              <a:spcAft>
                <a:spcPts val="1200"/>
              </a:spcAft>
              <a:defRPr sz="2100">
                <a:solidFill>
                  <a:srgbClr val="1E242B"/>
                </a:solidFill>
                <a:latin typeface="Aptos"/>
              </a:defRPr>
            </a:pPr>
            <a:r>
              <a:t>What is the difference between a Series and a DataFrame?</a:t>
            </a:r>
          </a:p>
          <a:p>
            <a:pPr>
              <a:spcAft>
                <a:spcPts val="1200"/>
              </a:spcAft>
              <a:defRPr sz="2100">
                <a:solidFill>
                  <a:srgbClr val="1E242B"/>
                </a:solidFill>
                <a:latin typeface="Aptos"/>
              </a:defRPr>
            </a:pPr>
            <a:r>
              <a:t>Which function would you use to read a CSV file?</a:t>
            </a:r>
          </a:p>
          <a:p>
            <a:pPr>
              <a:spcAft>
                <a:spcPts val="1200"/>
              </a:spcAft>
              <a:defRPr sz="2100">
                <a:solidFill>
                  <a:srgbClr val="1E242B"/>
                </a:solidFill>
                <a:latin typeface="Aptos"/>
              </a:defRPr>
            </a:pPr>
            <a:r>
              <a:t>What does df.iloc[:, 0:3] select?</a:t>
            </a:r>
          </a:p>
          <a:p>
            <a:pPr>
              <a:spcAft>
                <a:spcPts val="1200"/>
              </a:spcAft>
              <a:defRPr sz="2100">
                <a:solidFill>
                  <a:srgbClr val="1E242B"/>
                </a:solidFill>
                <a:latin typeface="Aptos"/>
              </a:defRPr>
            </a:pPr>
            <a:r>
              <a:t>Name two approaches for handling missing values.</a:t>
            </a:r>
          </a:p>
          <a:p>
            <a:pPr>
              <a:spcAft>
                <a:spcPts val="1200"/>
              </a:spcAft>
              <a:defRPr sz="2100">
                <a:solidFill>
                  <a:srgbClr val="1E242B"/>
                </a:solidFill>
                <a:latin typeface="Aptos"/>
              </a:defRPr>
            </a:pPr>
            <a:r>
              <a:t>When would you use merge() instead of simply slicing a DataFrame?</a:t>
            </a:r>
          </a:p>
        </p:txBody>
      </p:sp>
    </p:spTree>
  </p:cSld>
  <p:clrMapOvr>
    <a:masterClrMapping/>
  </p:clrMapOvr>
</p:sld>
</file>

<file path=ppt/theme/theme1.xml><?xml version="1.0" encoding="utf-8"?>
<a:theme xmlns:a="http://schemas.openxmlformats.org/drawingml/2006/main" name="Office 2013 - 2022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173</TotalTime>
  <Words>2095</Words>
  <Application>Microsoft Office PowerPoint</Application>
  <PresentationFormat>Widescreen</PresentationFormat>
  <Paragraphs>157</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Calibri Light</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Libraries - Pandas</dc:title>
  <dc:subject>Accessible AI 240 Pandas lecture with in-class exercises</dc:subject>
  <dc:creator>Dr. Uma Gajendragadkar</dc:creator>
  <cp:keywords>Pandas, AI 240, accessibility, Python, DataFrame, Series</cp:keywords>
  <dc:description>generated using python-pptx</dc:description>
  <cp:lastModifiedBy>Uma G</cp:lastModifiedBy>
  <cp:revision>1</cp:revision>
  <dcterms:created xsi:type="dcterms:W3CDTF">2013-01-27T09:14:16Z</dcterms:created>
  <dcterms:modified xsi:type="dcterms:W3CDTF">2026-10-05T00:26:00Z</dcterms:modified>
  <cp:category/>
</cp:coreProperties>
</file>